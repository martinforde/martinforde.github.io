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7" r:id="rId3"/>
    <p:sldId id="293" r:id="rId4"/>
    <p:sldId id="261" r:id="rId5"/>
    <p:sldId id="271" r:id="rId6"/>
    <p:sldId id="257" r:id="rId7"/>
    <p:sldId id="303" r:id="rId8"/>
    <p:sldId id="304" r:id="rId9"/>
    <p:sldId id="305" r:id="rId10"/>
    <p:sldId id="260" r:id="rId11"/>
    <p:sldId id="289" r:id="rId12"/>
    <p:sldId id="262" r:id="rId13"/>
    <p:sldId id="263" r:id="rId14"/>
    <p:sldId id="288" r:id="rId15"/>
    <p:sldId id="270" r:id="rId16"/>
    <p:sldId id="264" r:id="rId17"/>
    <p:sldId id="266" r:id="rId18"/>
    <p:sldId id="306" r:id="rId19"/>
    <p:sldId id="267" r:id="rId20"/>
    <p:sldId id="269" r:id="rId21"/>
    <p:sldId id="265" r:id="rId22"/>
    <p:sldId id="268" r:id="rId23"/>
    <p:sldId id="272" r:id="rId24"/>
    <p:sldId id="273" r:id="rId25"/>
    <p:sldId id="301" r:id="rId26"/>
    <p:sldId id="302" r:id="rId27"/>
    <p:sldId id="274" r:id="rId28"/>
    <p:sldId id="275" r:id="rId29"/>
    <p:sldId id="276" r:id="rId30"/>
    <p:sldId id="278" r:id="rId31"/>
    <p:sldId id="279" r:id="rId32"/>
    <p:sldId id="294" r:id="rId33"/>
    <p:sldId id="295" r:id="rId34"/>
    <p:sldId id="284" r:id="rId35"/>
    <p:sldId id="299" r:id="rId36"/>
    <p:sldId id="300" r:id="rId37"/>
    <p:sldId id="285" r:id="rId38"/>
    <p:sldId id="287" r:id="rId39"/>
    <p:sldId id="29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38" autoAdjust="0"/>
    <p:restoredTop sz="93750" autoAdjust="0"/>
  </p:normalViewPr>
  <p:slideViewPr>
    <p:cSldViewPr snapToGrid="0">
      <p:cViewPr varScale="1">
        <p:scale>
          <a:sx n="87" d="100"/>
          <a:sy n="87" d="100"/>
        </p:scale>
        <p:origin x="224" y="5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C1E4CE87-098E-489B-9FE5-D92FECB27094}" type="datetimeFigureOut">
              <a:rPr lang="en-GB" smtClean="0"/>
              <a:t>25/03/2026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28753A1-E706-42B6-9CFC-5060B0C3B8F3}" type="slidenum">
              <a:rPr lang="en-GB" smtClean="0"/>
              <a:t>‹#›</a:t>
            </a:fld>
            <a:endParaRPr lang="en-GB" dirty="0"/>
          </a:p>
        </p:txBody>
      </p:sp>
    </p:spTree>
    <p:extLst>
      <p:ext uri="{BB962C8B-B14F-4D97-AF65-F5344CB8AC3E}">
        <p14:creationId xmlns:p14="http://schemas.microsoft.com/office/powerpoint/2010/main" val="2480278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1E4CE87-098E-489B-9FE5-D92FECB27094}" type="datetimeFigureOut">
              <a:rPr lang="en-GB" smtClean="0"/>
              <a:t>25/03/2026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28753A1-E706-42B6-9CFC-5060B0C3B8F3}" type="slidenum">
              <a:rPr lang="en-GB" smtClean="0"/>
              <a:t>‹#›</a:t>
            </a:fld>
            <a:endParaRPr lang="en-GB" dirty="0"/>
          </a:p>
        </p:txBody>
      </p:sp>
    </p:spTree>
    <p:extLst>
      <p:ext uri="{BB962C8B-B14F-4D97-AF65-F5344CB8AC3E}">
        <p14:creationId xmlns:p14="http://schemas.microsoft.com/office/powerpoint/2010/main" val="2657644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E4CE87-098E-489B-9FE5-D92FECB27094}" type="datetimeFigureOut">
              <a:rPr lang="en-GB" smtClean="0"/>
              <a:t>25/03/2026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28753A1-E706-42B6-9CFC-5060B0C3B8F3}" type="slidenum">
              <a:rPr lang="en-GB" smtClean="0"/>
              <a:t>‹#›</a:t>
            </a:fld>
            <a:endParaRPr lang="en-GB" dirty="0"/>
          </a:p>
        </p:txBody>
      </p:sp>
    </p:spTree>
    <p:extLst>
      <p:ext uri="{BB962C8B-B14F-4D97-AF65-F5344CB8AC3E}">
        <p14:creationId xmlns:p14="http://schemas.microsoft.com/office/powerpoint/2010/main" val="3298213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C1E4CE87-098E-489B-9FE5-D92FECB27094}" type="datetimeFigureOut">
              <a:rPr lang="en-GB" smtClean="0"/>
              <a:t>25/03/2026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28753A1-E706-42B6-9CFC-5060B0C3B8F3}" type="slidenum">
              <a:rPr lang="en-GB" smtClean="0"/>
              <a:t>‹#›</a:t>
            </a:fld>
            <a:endParaRPr lang="en-GB" dirty="0"/>
          </a:p>
        </p:txBody>
      </p:sp>
    </p:spTree>
    <p:extLst>
      <p:ext uri="{BB962C8B-B14F-4D97-AF65-F5344CB8AC3E}">
        <p14:creationId xmlns:p14="http://schemas.microsoft.com/office/powerpoint/2010/main" val="3132934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C1E4CE87-098E-489B-9FE5-D92FECB27094}" type="datetimeFigureOut">
              <a:rPr lang="en-GB" smtClean="0"/>
              <a:t>25/03/2026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728753A1-E706-42B6-9CFC-5060B0C3B8F3}" type="slidenum">
              <a:rPr lang="en-GB" smtClean="0"/>
              <a:t>‹#›</a:t>
            </a:fld>
            <a:endParaRPr lang="en-GB" dirty="0"/>
          </a:p>
        </p:txBody>
      </p:sp>
    </p:spTree>
    <p:extLst>
      <p:ext uri="{BB962C8B-B14F-4D97-AF65-F5344CB8AC3E}">
        <p14:creationId xmlns:p14="http://schemas.microsoft.com/office/powerpoint/2010/main" val="3332067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C1E4CE87-098E-489B-9FE5-D92FECB27094}" type="datetimeFigureOut">
              <a:rPr lang="en-GB" smtClean="0"/>
              <a:t>25/03/2026</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728753A1-E706-42B6-9CFC-5060B0C3B8F3}" type="slidenum">
              <a:rPr lang="en-GB" smtClean="0"/>
              <a:t>‹#›</a:t>
            </a:fld>
            <a:endParaRPr lang="en-GB" dirty="0"/>
          </a:p>
        </p:txBody>
      </p:sp>
    </p:spTree>
    <p:extLst>
      <p:ext uri="{BB962C8B-B14F-4D97-AF65-F5344CB8AC3E}">
        <p14:creationId xmlns:p14="http://schemas.microsoft.com/office/powerpoint/2010/main" val="1383513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E4CE87-098E-489B-9FE5-D92FECB27094}" type="datetimeFigureOut">
              <a:rPr lang="en-GB" smtClean="0"/>
              <a:t>25/03/2026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728753A1-E706-42B6-9CFC-5060B0C3B8F3}" type="slidenum">
              <a:rPr lang="en-GB" smtClean="0"/>
              <a:t>‹#›</a:t>
            </a:fld>
            <a:endParaRPr lang="en-GB" dirty="0"/>
          </a:p>
        </p:txBody>
      </p:sp>
    </p:spTree>
    <p:extLst>
      <p:ext uri="{BB962C8B-B14F-4D97-AF65-F5344CB8AC3E}">
        <p14:creationId xmlns:p14="http://schemas.microsoft.com/office/powerpoint/2010/main" val="1103370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E4CE87-098E-489B-9FE5-D92FECB27094}" type="datetimeFigureOut">
              <a:rPr lang="en-GB" smtClean="0"/>
              <a:t>25/03/2026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28753A1-E706-42B6-9CFC-5060B0C3B8F3}" type="slidenum">
              <a:rPr lang="en-GB" smtClean="0"/>
              <a:t>‹#›</a:t>
            </a:fld>
            <a:endParaRPr lang="en-GB" dirty="0"/>
          </a:p>
        </p:txBody>
      </p:sp>
    </p:spTree>
    <p:extLst>
      <p:ext uri="{BB962C8B-B14F-4D97-AF65-F5344CB8AC3E}">
        <p14:creationId xmlns:p14="http://schemas.microsoft.com/office/powerpoint/2010/main" val="363956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E4CE87-098E-489B-9FE5-D92FECB27094}" type="datetimeFigureOut">
              <a:rPr lang="en-GB" smtClean="0"/>
              <a:t>25/03/2026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28753A1-E706-42B6-9CFC-5060B0C3B8F3}" type="slidenum">
              <a:rPr lang="en-GB" smtClean="0"/>
              <a:t>‹#›</a:t>
            </a:fld>
            <a:endParaRPr lang="en-GB" dirty="0"/>
          </a:p>
        </p:txBody>
      </p:sp>
    </p:spTree>
    <p:extLst>
      <p:ext uri="{BB962C8B-B14F-4D97-AF65-F5344CB8AC3E}">
        <p14:creationId xmlns:p14="http://schemas.microsoft.com/office/powerpoint/2010/main" val="4276178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1E4CE87-098E-489B-9FE5-D92FECB27094}" type="datetimeFigureOut">
              <a:rPr lang="en-GB" smtClean="0"/>
              <a:t>25/03/2026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28753A1-E706-42B6-9CFC-5060B0C3B8F3}" type="slidenum">
              <a:rPr lang="en-GB" smtClean="0"/>
              <a:t>‹#›</a:t>
            </a:fld>
            <a:endParaRPr lang="en-GB" dirty="0"/>
          </a:p>
        </p:txBody>
      </p:sp>
    </p:spTree>
    <p:extLst>
      <p:ext uri="{BB962C8B-B14F-4D97-AF65-F5344CB8AC3E}">
        <p14:creationId xmlns:p14="http://schemas.microsoft.com/office/powerpoint/2010/main" val="4082431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1E4CE87-098E-489B-9FE5-D92FECB27094}" type="datetimeFigureOut">
              <a:rPr lang="en-GB" smtClean="0"/>
              <a:t>25/03/2026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28753A1-E706-42B6-9CFC-5060B0C3B8F3}" type="slidenum">
              <a:rPr lang="en-GB" smtClean="0"/>
              <a:t>‹#›</a:t>
            </a:fld>
            <a:endParaRPr lang="en-GB" dirty="0"/>
          </a:p>
        </p:txBody>
      </p:sp>
    </p:spTree>
    <p:extLst>
      <p:ext uri="{BB962C8B-B14F-4D97-AF65-F5344CB8AC3E}">
        <p14:creationId xmlns:p14="http://schemas.microsoft.com/office/powerpoint/2010/main" val="1645813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E4CE87-098E-489B-9FE5-D92FECB27094}" type="datetimeFigureOut">
              <a:rPr lang="en-GB" smtClean="0"/>
              <a:t>25/03/2026</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8753A1-E706-42B6-9CFC-5060B0C3B8F3}" type="slidenum">
              <a:rPr lang="en-GB" smtClean="0"/>
              <a:t>‹#›</a:t>
            </a:fld>
            <a:endParaRPr lang="en-GB" dirty="0"/>
          </a:p>
        </p:txBody>
      </p:sp>
    </p:spTree>
    <p:extLst>
      <p:ext uri="{BB962C8B-B14F-4D97-AF65-F5344CB8AC3E}">
        <p14:creationId xmlns:p14="http://schemas.microsoft.com/office/powerpoint/2010/main" val="12291000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hyperlink" Target="https://www.overleaf.com/edu/kc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FM50 Induction 2026</a:t>
            </a:r>
          </a:p>
        </p:txBody>
      </p:sp>
      <p:sp>
        <p:nvSpPr>
          <p:cNvPr id="3" name="Subtitle 2"/>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3322865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52284-1E81-48DA-83ED-2655AAA5D171}"/>
              </a:ext>
            </a:extLst>
          </p:cNvPr>
          <p:cNvSpPr>
            <a:spLocks noGrp="1"/>
          </p:cNvSpPr>
          <p:nvPr>
            <p:ph type="title"/>
          </p:nvPr>
        </p:nvSpPr>
        <p:spPr/>
        <p:txBody>
          <a:bodyPr/>
          <a:lstStyle/>
          <a:p>
            <a:r>
              <a:rPr lang="en-GB" dirty="0"/>
              <a:t>Outline</a:t>
            </a:r>
          </a:p>
        </p:txBody>
      </p:sp>
      <p:sp>
        <p:nvSpPr>
          <p:cNvPr id="3" name="Content Placeholder 2">
            <a:extLst>
              <a:ext uri="{FF2B5EF4-FFF2-40B4-BE49-F238E27FC236}">
                <a16:creationId xmlns:a16="http://schemas.microsoft.com/office/drawing/2014/main" id="{F45F9402-1E92-4504-81CF-4AB6E58E1082}"/>
              </a:ext>
            </a:extLst>
          </p:cNvPr>
          <p:cNvSpPr>
            <a:spLocks noGrp="1"/>
          </p:cNvSpPr>
          <p:nvPr>
            <p:ph idx="1"/>
          </p:nvPr>
        </p:nvSpPr>
        <p:spPr/>
        <p:txBody>
          <a:bodyPr/>
          <a:lstStyle/>
          <a:p>
            <a:pPr marL="0" indent="0">
              <a:buNone/>
            </a:pPr>
            <a:endParaRPr lang="en-GB" dirty="0"/>
          </a:p>
          <a:p>
            <a:pPr marL="0" indent="0">
              <a:buNone/>
            </a:pPr>
            <a:endParaRPr lang="en-GB" dirty="0"/>
          </a:p>
          <a:p>
            <a:pPr marL="0" indent="0">
              <a:buNone/>
            </a:pPr>
            <a:r>
              <a:rPr lang="en-GB" dirty="0"/>
              <a:t>This induction will introduce you to the MSc project and the available topics</a:t>
            </a:r>
          </a:p>
        </p:txBody>
      </p:sp>
    </p:spTree>
    <p:extLst>
      <p:ext uri="{BB962C8B-B14F-4D97-AF65-F5344CB8AC3E}">
        <p14:creationId xmlns:p14="http://schemas.microsoft.com/office/powerpoint/2010/main" val="3376333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FF0000"/>
                </a:solidFill>
              </a:rPr>
              <a:t>Changes</a:t>
            </a:r>
          </a:p>
        </p:txBody>
      </p:sp>
      <p:sp>
        <p:nvSpPr>
          <p:cNvPr id="3" name="Content Placeholder 2"/>
          <p:cNvSpPr>
            <a:spLocks noGrp="1"/>
          </p:cNvSpPr>
          <p:nvPr>
            <p:ph idx="1"/>
          </p:nvPr>
        </p:nvSpPr>
        <p:spPr/>
        <p:txBody>
          <a:bodyPr/>
          <a:lstStyle/>
          <a:p>
            <a:r>
              <a:rPr lang="en-GB" dirty="0"/>
              <a:t>This is based on current information.</a:t>
            </a:r>
          </a:p>
          <a:p>
            <a:r>
              <a:rPr lang="en-GB" b="1" dirty="0"/>
              <a:t>Modifications may still occur </a:t>
            </a:r>
            <a:r>
              <a:rPr lang="en-GB" dirty="0"/>
              <a:t>(aim to have them all in by end of May).</a:t>
            </a:r>
          </a:p>
          <a:p>
            <a:r>
              <a:rPr lang="en-GB" dirty="0"/>
              <a:t>When we receive any specific information we will communicate this via KEATS.</a:t>
            </a:r>
          </a:p>
          <a:p>
            <a:r>
              <a:rPr lang="en-GB" dirty="0"/>
              <a:t>This should not delay the timeline of the project.</a:t>
            </a:r>
          </a:p>
          <a:p>
            <a:r>
              <a:rPr lang="en-GB" dirty="0"/>
              <a:t>In this presentation we highlighted specific requirements that may be </a:t>
            </a:r>
            <a:r>
              <a:rPr lang="en-GB" dirty="0">
                <a:solidFill>
                  <a:srgbClr val="FF0000"/>
                </a:solidFill>
              </a:rPr>
              <a:t>subject to change</a:t>
            </a:r>
            <a:r>
              <a:rPr lang="en-GB" dirty="0"/>
              <a:t>. Additional measures may be decided as needed.</a:t>
            </a:r>
          </a:p>
          <a:p>
            <a:pPr lvl="1"/>
            <a:endParaRPr lang="en-GB" dirty="0"/>
          </a:p>
        </p:txBody>
      </p:sp>
    </p:spTree>
    <p:extLst>
      <p:ext uri="{BB962C8B-B14F-4D97-AF65-F5344CB8AC3E}">
        <p14:creationId xmlns:p14="http://schemas.microsoft.com/office/powerpoint/2010/main" val="2793688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Documentation</a:t>
            </a:r>
          </a:p>
        </p:txBody>
      </p:sp>
      <p:sp>
        <p:nvSpPr>
          <p:cNvPr id="3" name="Content Placeholder 2"/>
          <p:cNvSpPr>
            <a:spLocks noGrp="1"/>
          </p:cNvSpPr>
          <p:nvPr>
            <p:ph idx="1"/>
          </p:nvPr>
        </p:nvSpPr>
        <p:spPr/>
        <p:txBody>
          <a:bodyPr>
            <a:normAutofit fontScale="92500" lnSpcReduction="10000"/>
          </a:bodyPr>
          <a:lstStyle/>
          <a:p>
            <a:r>
              <a:rPr lang="en-GB" dirty="0"/>
              <a:t>There is a draft </a:t>
            </a:r>
            <a:r>
              <a:rPr lang="en-GB" dirty="0">
                <a:highlight>
                  <a:srgbClr val="FFFF00"/>
                </a:highlight>
              </a:rPr>
              <a:t>guide</a:t>
            </a:r>
            <a:r>
              <a:rPr lang="en-GB" dirty="0"/>
              <a:t> to the FM50 project on Keats.</a:t>
            </a:r>
          </a:p>
          <a:p>
            <a:r>
              <a:rPr lang="en-GB" dirty="0"/>
              <a:t>The guide includes a </a:t>
            </a:r>
            <a:r>
              <a:rPr lang="en-GB" dirty="0">
                <a:highlight>
                  <a:srgbClr val="FFFF00"/>
                </a:highlight>
              </a:rPr>
              <a:t>Timeline</a:t>
            </a:r>
            <a:r>
              <a:rPr lang="en-GB" dirty="0"/>
              <a:t>.</a:t>
            </a:r>
          </a:p>
          <a:p>
            <a:r>
              <a:rPr lang="en-GB" dirty="0"/>
              <a:t>The guide includes a “</a:t>
            </a:r>
            <a:r>
              <a:rPr lang="en-GB" dirty="0">
                <a:highlight>
                  <a:srgbClr val="FFFF00"/>
                </a:highlight>
              </a:rPr>
              <a:t>template</a:t>
            </a:r>
            <a:r>
              <a:rPr lang="en-GB" dirty="0"/>
              <a:t>” dissertation which describes in detail what is expected from each section of the dissertation.</a:t>
            </a:r>
          </a:p>
          <a:p>
            <a:r>
              <a:rPr lang="en-GB" dirty="0"/>
              <a:t>The template dissertation is written in </a:t>
            </a:r>
            <a:r>
              <a:rPr lang="en-GB" dirty="0">
                <a:highlight>
                  <a:srgbClr val="FFFF00"/>
                </a:highlight>
              </a:rPr>
              <a:t>LaTeX</a:t>
            </a:r>
            <a:r>
              <a:rPr lang="en-GB" dirty="0"/>
              <a:t> which you should also you use to write up your project. The source code for the template dissertation is in KEATS, so you can copy all the formatting.</a:t>
            </a:r>
          </a:p>
          <a:p>
            <a:r>
              <a:rPr lang="en-GB" dirty="0"/>
              <a:t>There are 3 project topics available on Keats, and they describe each of the topics you can choose between.</a:t>
            </a:r>
          </a:p>
          <a:p>
            <a:r>
              <a:rPr lang="en-GB" dirty="0"/>
              <a:t>There are some example dissertations from previous years so you can get an idea of what a good dissertation might look like.</a:t>
            </a:r>
          </a:p>
        </p:txBody>
      </p:sp>
    </p:spTree>
    <p:extLst>
      <p:ext uri="{BB962C8B-B14F-4D97-AF65-F5344CB8AC3E}">
        <p14:creationId xmlns:p14="http://schemas.microsoft.com/office/powerpoint/2010/main" val="1766925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OVERVIEW</a:t>
            </a:r>
          </a:p>
        </p:txBody>
      </p:sp>
      <p:sp>
        <p:nvSpPr>
          <p:cNvPr id="5" name="Text Placeholder 4"/>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042273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FM50 Key Points</a:t>
            </a:r>
          </a:p>
        </p:txBody>
      </p:sp>
      <p:sp>
        <p:nvSpPr>
          <p:cNvPr id="3" name="Content Placeholder 2"/>
          <p:cNvSpPr>
            <a:spLocks noGrp="1"/>
          </p:cNvSpPr>
          <p:nvPr>
            <p:ph idx="1"/>
          </p:nvPr>
        </p:nvSpPr>
        <p:spPr/>
        <p:txBody>
          <a:bodyPr>
            <a:normAutofit lnSpcReduction="10000"/>
          </a:bodyPr>
          <a:lstStyle/>
          <a:p>
            <a:r>
              <a:rPr lang="en-GB" dirty="0"/>
              <a:t>FM50 is your MSc project dissertation.</a:t>
            </a:r>
          </a:p>
          <a:p>
            <a:r>
              <a:rPr lang="en-GB" dirty="0"/>
              <a:t>You should work on your dissertation </a:t>
            </a:r>
            <a:r>
              <a:rPr lang="en-GB" dirty="0">
                <a:highlight>
                  <a:srgbClr val="FFFF00"/>
                </a:highlight>
              </a:rPr>
              <a:t>full time </a:t>
            </a:r>
            <a:r>
              <a:rPr lang="en-GB" dirty="0"/>
              <a:t>in June, July and August to avoid failing</a:t>
            </a:r>
          </a:p>
          <a:p>
            <a:r>
              <a:rPr lang="en-GB" dirty="0"/>
              <a:t>You must choose a topic from a list of 3 (available on Keats and discussed today).</a:t>
            </a:r>
          </a:p>
          <a:p>
            <a:r>
              <a:rPr lang="en-GB" dirty="0"/>
              <a:t>Each project has 3 parts. A literature review (Part 1); Mandatory Tasks (Part 2), and an extended personal contribution (Part 3)</a:t>
            </a:r>
          </a:p>
          <a:p>
            <a:r>
              <a:rPr lang="en-GB" dirty="0"/>
              <a:t>You must attend the oral exam in person (unless resitting and no misconduct), and it is at the supervisor’s discretion whether you can attend project meetings online</a:t>
            </a:r>
          </a:p>
        </p:txBody>
      </p:sp>
    </p:spTree>
    <p:extLst>
      <p:ext uri="{BB962C8B-B14F-4D97-AF65-F5344CB8AC3E}">
        <p14:creationId xmlns:p14="http://schemas.microsoft.com/office/powerpoint/2010/main" val="973431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Progression to project, suspension from project (Part-Time students)</a:t>
            </a:r>
          </a:p>
        </p:txBody>
      </p:sp>
      <p:sp>
        <p:nvSpPr>
          <p:cNvPr id="3" name="Content Placeholder 2"/>
          <p:cNvSpPr>
            <a:spLocks noGrp="1"/>
          </p:cNvSpPr>
          <p:nvPr>
            <p:ph idx="1"/>
          </p:nvPr>
        </p:nvSpPr>
        <p:spPr/>
        <p:txBody>
          <a:bodyPr/>
          <a:lstStyle/>
          <a:p>
            <a:r>
              <a:rPr lang="en-GB" dirty="0"/>
              <a:t>All students are assumed to have progressed to the project.</a:t>
            </a:r>
          </a:p>
          <a:p>
            <a:r>
              <a:rPr lang="en-GB" dirty="0"/>
              <a:t>Once provisional May results become available, if criteria are not met students are suspended from the project until these criteria will be met (i.e. passing or getting condoned fails in resits)</a:t>
            </a:r>
          </a:p>
          <a:p>
            <a:endParaRPr lang="en-GB" dirty="0"/>
          </a:p>
        </p:txBody>
      </p:sp>
    </p:spTree>
    <p:extLst>
      <p:ext uri="{BB962C8B-B14F-4D97-AF65-F5344CB8AC3E}">
        <p14:creationId xmlns:p14="http://schemas.microsoft.com/office/powerpoint/2010/main" val="880775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Progression to project, suspension from project (description of process)</a:t>
            </a:r>
          </a:p>
        </p:txBody>
      </p:sp>
      <p:pic>
        <p:nvPicPr>
          <p:cNvPr id="6" name="Content Placeholder 5" descr="A text on a white background&#10;&#10;Description automatically generated">
            <a:extLst>
              <a:ext uri="{FF2B5EF4-FFF2-40B4-BE49-F238E27FC236}">
                <a16:creationId xmlns:a16="http://schemas.microsoft.com/office/drawing/2014/main" id="{32AB438F-0C1D-CC6F-8E84-47E06C3DBC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45251"/>
            <a:ext cx="9944100" cy="2133600"/>
          </a:xfrm>
        </p:spPr>
      </p:pic>
      <p:pic>
        <p:nvPicPr>
          <p:cNvPr id="10" name="Picture 9" descr="A close up of a text&#10;&#10;Description automatically generated">
            <a:extLst>
              <a:ext uri="{FF2B5EF4-FFF2-40B4-BE49-F238E27FC236}">
                <a16:creationId xmlns:a16="http://schemas.microsoft.com/office/drawing/2014/main" id="{AF9437DF-8F98-DDEE-B00B-BE193A239B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7100" y="4267492"/>
            <a:ext cx="7226300" cy="1143000"/>
          </a:xfrm>
          <a:prstGeom prst="rect">
            <a:avLst/>
          </a:prstGeom>
        </p:spPr>
      </p:pic>
    </p:spTree>
    <p:extLst>
      <p:ext uri="{BB962C8B-B14F-4D97-AF65-F5344CB8AC3E}">
        <p14:creationId xmlns:p14="http://schemas.microsoft.com/office/powerpoint/2010/main" val="3216004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Progression to project, suspension from project (Full-Time students)</a:t>
            </a:r>
          </a:p>
        </p:txBody>
      </p:sp>
      <p:pic>
        <p:nvPicPr>
          <p:cNvPr id="7" name="Content Placeholder 6" descr="A white text with black text&#10;&#10;Description automatically generated">
            <a:extLst>
              <a:ext uri="{FF2B5EF4-FFF2-40B4-BE49-F238E27FC236}">
                <a16:creationId xmlns:a16="http://schemas.microsoft.com/office/drawing/2014/main" id="{AC039966-941D-7F25-DE41-5A0B4C19A1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40108" y="1825625"/>
            <a:ext cx="7511783" cy="4351338"/>
          </a:xfrm>
        </p:spPr>
      </p:pic>
    </p:spTree>
    <p:extLst>
      <p:ext uri="{BB962C8B-B14F-4D97-AF65-F5344CB8AC3E}">
        <p14:creationId xmlns:p14="http://schemas.microsoft.com/office/powerpoint/2010/main" val="2660967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4621"/>
            <a:ext cx="10515600" cy="1325563"/>
          </a:xfrm>
        </p:spPr>
        <p:txBody>
          <a:bodyPr/>
          <a:lstStyle/>
          <a:p>
            <a:r>
              <a:rPr lang="en-GB" dirty="0"/>
              <a:t>The structure of the project</a:t>
            </a:r>
          </a:p>
        </p:txBody>
      </p:sp>
      <p:sp>
        <p:nvSpPr>
          <p:cNvPr id="3" name="Content Placeholder 2"/>
          <p:cNvSpPr>
            <a:spLocks noGrp="1"/>
          </p:cNvSpPr>
          <p:nvPr>
            <p:ph idx="1"/>
          </p:nvPr>
        </p:nvSpPr>
        <p:spPr/>
        <p:txBody>
          <a:bodyPr>
            <a:normAutofit fontScale="92500" lnSpcReduction="20000"/>
          </a:bodyPr>
          <a:lstStyle/>
          <a:p>
            <a:r>
              <a:rPr lang="en-GB" b="1" dirty="0"/>
              <a:t>Part 1. A literature review</a:t>
            </a:r>
            <a:r>
              <a:rPr lang="en-GB" dirty="0"/>
              <a:t>. You should review the literature yourself and write your own account of the material. You should use your own words and highlight the areas you think are important. </a:t>
            </a:r>
            <a:r>
              <a:rPr lang="en-GB" i="1" dirty="0">
                <a:solidFill>
                  <a:schemeClr val="accent6">
                    <a:lumMod val="60000"/>
                    <a:lumOff val="40000"/>
                  </a:schemeClr>
                </a:solidFill>
              </a:rPr>
              <a:t>Can leave for the end</a:t>
            </a:r>
          </a:p>
          <a:p>
            <a:r>
              <a:rPr lang="en-GB" b="1" dirty="0"/>
              <a:t>Part 2. A clearly specified calculation</a:t>
            </a:r>
            <a:r>
              <a:rPr lang="en-GB" dirty="0"/>
              <a:t>. This is what the project topic specifies in detail. As well as performing the required calculation, you are expected to clearly describe how you have performed the calculation, how you have verified your answer and how you analysed your results. </a:t>
            </a:r>
            <a:r>
              <a:rPr lang="en-GB" i="1" dirty="0">
                <a:solidFill>
                  <a:schemeClr val="accent6">
                    <a:lumMod val="60000"/>
                    <a:lumOff val="40000"/>
                  </a:schemeClr>
                </a:solidFill>
              </a:rPr>
              <a:t>Start this</a:t>
            </a:r>
          </a:p>
          <a:p>
            <a:r>
              <a:rPr lang="en-GB" b="1" dirty="0"/>
              <a:t>Part 3. Your own extended personal contribution</a:t>
            </a:r>
            <a:r>
              <a:rPr lang="en-GB" dirty="0"/>
              <a:t>. Although a few ideas for what you might do in part 3 are given in the project description, it is very much up to you to decide what to do in part 3. You should check with you supervisor beforehand that your proposed Part 3 topic is feasible but also sufficiently interesting/substantial to obtain a good mark.  Your Part 3 should also include </a:t>
            </a:r>
            <a:r>
              <a:rPr lang="en-GB" dirty="0" err="1"/>
              <a:t>code.</a:t>
            </a:r>
            <a:r>
              <a:rPr lang="en-GB" i="1" dirty="0" err="1">
                <a:solidFill>
                  <a:schemeClr val="accent6">
                    <a:lumMod val="60000"/>
                    <a:lumOff val="40000"/>
                  </a:schemeClr>
                </a:solidFill>
              </a:rPr>
              <a:t>Continue</a:t>
            </a:r>
            <a:r>
              <a:rPr lang="en-GB" i="1" dirty="0">
                <a:solidFill>
                  <a:schemeClr val="accent6">
                    <a:lumMod val="60000"/>
                    <a:lumOff val="40000"/>
                  </a:schemeClr>
                </a:solidFill>
              </a:rPr>
              <a:t> with this</a:t>
            </a:r>
          </a:p>
        </p:txBody>
      </p:sp>
    </p:spTree>
    <p:extLst>
      <p:ext uri="{BB962C8B-B14F-4D97-AF65-F5344CB8AC3E}">
        <p14:creationId xmlns:p14="http://schemas.microsoft.com/office/powerpoint/2010/main" val="2070831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Mark Scheme</a:t>
            </a:r>
          </a:p>
        </p:txBody>
      </p:sp>
      <p:sp>
        <p:nvSpPr>
          <p:cNvPr id="3" name="Content Placeholder 2"/>
          <p:cNvSpPr>
            <a:spLocks noGrp="1"/>
          </p:cNvSpPr>
          <p:nvPr>
            <p:ph idx="1"/>
          </p:nvPr>
        </p:nvSpPr>
        <p:spPr/>
        <p:txBody>
          <a:bodyPr/>
          <a:lstStyle/>
          <a:p>
            <a:r>
              <a:rPr lang="en-GB" dirty="0"/>
              <a:t>See KEATS (the mark scheme is included in the FM50 guide)</a:t>
            </a:r>
          </a:p>
          <a:p>
            <a:r>
              <a:rPr lang="en-GB" dirty="0"/>
              <a:t>90% is the mark for the submitted project</a:t>
            </a:r>
          </a:p>
          <a:p>
            <a:r>
              <a:rPr lang="en-GB" dirty="0"/>
              <a:t>10% is the mark for the oral exam</a:t>
            </a:r>
          </a:p>
          <a:p>
            <a:r>
              <a:rPr lang="en-GB" dirty="0"/>
              <a:t>You should prepare/revise properly for the oral exam like any other exam</a:t>
            </a:r>
          </a:p>
          <a:p>
            <a:r>
              <a:rPr lang="en-GB" dirty="0"/>
              <a:t>You need to pass the oral exam (i.e. get 5 or more out of 10) and get a combined overall mark of 50% or more to pass the project.</a:t>
            </a:r>
          </a:p>
          <a:p>
            <a:r>
              <a:rPr lang="en-GB" dirty="0"/>
              <a:t>This gives you an idea of what a marker looks for in a project.</a:t>
            </a:r>
          </a:p>
          <a:p>
            <a:endParaRPr lang="en-GB" dirty="0"/>
          </a:p>
        </p:txBody>
      </p:sp>
    </p:spTree>
    <p:extLst>
      <p:ext uri="{BB962C8B-B14F-4D97-AF65-F5344CB8AC3E}">
        <p14:creationId xmlns:p14="http://schemas.microsoft.com/office/powerpoint/2010/main" val="1039834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are we looking for?</a:t>
            </a:r>
          </a:p>
        </p:txBody>
      </p:sp>
      <p:sp>
        <p:nvSpPr>
          <p:cNvPr id="3" name="Content Placeholder 2"/>
          <p:cNvSpPr>
            <a:spLocks noGrp="1"/>
          </p:cNvSpPr>
          <p:nvPr>
            <p:ph idx="1"/>
          </p:nvPr>
        </p:nvSpPr>
        <p:spPr/>
        <p:txBody>
          <a:bodyPr/>
          <a:lstStyle/>
          <a:p>
            <a:r>
              <a:rPr lang="en-GB" dirty="0"/>
              <a:t>Your dissertation should be </a:t>
            </a:r>
            <a:r>
              <a:rPr lang="en-GB" b="1" dirty="0"/>
              <a:t>interesting</a:t>
            </a:r>
            <a:r>
              <a:rPr lang="en-GB" dirty="0"/>
              <a:t> to read. Try to write something that you would have enjoyed reading in order to learn about the subjects covered in your dissertation.</a:t>
            </a:r>
          </a:p>
          <a:p>
            <a:r>
              <a:rPr lang="en-GB" dirty="0"/>
              <a:t>Your dissertation should be </a:t>
            </a:r>
            <a:r>
              <a:rPr lang="en-GB" b="1" dirty="0"/>
              <a:t>personal</a:t>
            </a:r>
            <a:r>
              <a:rPr lang="en-GB" dirty="0"/>
              <a:t>. We want to see your personal choices shining through. Which parts of the literature do you decide to review? How do you present the literature? How do you analyse the results of your calculation? What do you study in Part 3? These are all areas where your personality can come out.</a:t>
            </a:r>
          </a:p>
        </p:txBody>
      </p:sp>
    </p:spTree>
    <p:extLst>
      <p:ext uri="{BB962C8B-B14F-4D97-AF65-F5344CB8AC3E}">
        <p14:creationId xmlns:p14="http://schemas.microsoft.com/office/powerpoint/2010/main" val="4252592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we are NOT looking for</a:t>
            </a:r>
          </a:p>
        </p:txBody>
      </p:sp>
      <p:sp>
        <p:nvSpPr>
          <p:cNvPr id="3" name="Content Placeholder 2"/>
          <p:cNvSpPr>
            <a:spLocks noGrp="1"/>
          </p:cNvSpPr>
          <p:nvPr>
            <p:ph idx="1"/>
          </p:nvPr>
        </p:nvSpPr>
        <p:spPr/>
        <p:txBody>
          <a:bodyPr>
            <a:normAutofit/>
          </a:bodyPr>
          <a:lstStyle/>
          <a:p>
            <a:r>
              <a:rPr lang="en-GB" b="1" dirty="0"/>
              <a:t>Ground-breaking originality</a:t>
            </a:r>
            <a:r>
              <a:rPr lang="en-GB" dirty="0"/>
              <a:t>. OK, it’s great if we get it, but you can easily get a distinction without breaking new ground. If you make a significant personal contribution, that is enough.</a:t>
            </a:r>
          </a:p>
          <a:p>
            <a:r>
              <a:rPr lang="en-GB" b="1" dirty="0"/>
              <a:t>Words for the sake of filling space</a:t>
            </a:r>
            <a:r>
              <a:rPr lang="en-GB" dirty="0"/>
              <a:t>.</a:t>
            </a:r>
            <a:r>
              <a:rPr lang="en-US" dirty="0"/>
              <a:t> Parts 1-3 cannot be more than 40 pages (this excludes the title page, abstract, content, bibliography and code in the appendix). You should not adjust the standard latex template to widen the margins or make font smaller</a:t>
            </a:r>
            <a:r>
              <a:rPr lang="en-GB" dirty="0"/>
              <a:t>.</a:t>
            </a:r>
          </a:p>
          <a:p>
            <a:r>
              <a:rPr lang="en-GB" dirty="0"/>
              <a:t> </a:t>
            </a:r>
            <a:r>
              <a:rPr lang="en-GB" b="1" dirty="0"/>
              <a:t>Other people’s words</a:t>
            </a:r>
            <a:r>
              <a:rPr lang="en-GB" dirty="0"/>
              <a:t>. Although in some maths exams you are given credit for repeating the lecturer word-for-word, we do not want you to do this, in fact doing so is PLAGIARISM.</a:t>
            </a:r>
          </a:p>
          <a:p>
            <a:endParaRPr lang="en-GB" dirty="0"/>
          </a:p>
        </p:txBody>
      </p:sp>
    </p:spTree>
    <p:extLst>
      <p:ext uri="{BB962C8B-B14F-4D97-AF65-F5344CB8AC3E}">
        <p14:creationId xmlns:p14="http://schemas.microsoft.com/office/powerpoint/2010/main" val="938270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Oral Exam</a:t>
            </a:r>
          </a:p>
        </p:txBody>
      </p:sp>
      <p:sp>
        <p:nvSpPr>
          <p:cNvPr id="3" name="Content Placeholder 2"/>
          <p:cNvSpPr>
            <a:spLocks noGrp="1"/>
          </p:cNvSpPr>
          <p:nvPr>
            <p:ph idx="1"/>
          </p:nvPr>
        </p:nvSpPr>
        <p:spPr/>
        <p:txBody>
          <a:bodyPr/>
          <a:lstStyle/>
          <a:p>
            <a:r>
              <a:rPr lang="en-GB" dirty="0"/>
              <a:t>The oral exam helps us decide if the dissertation is your own work.</a:t>
            </a:r>
          </a:p>
          <a:p>
            <a:r>
              <a:rPr lang="en-GB" dirty="0"/>
              <a:t>We can also clarify points we did not understand in your dissertation.</a:t>
            </a:r>
          </a:p>
          <a:p>
            <a:r>
              <a:rPr lang="en-GB" dirty="0"/>
              <a:t>Be ready to answer questions about what you wrote and why.</a:t>
            </a:r>
          </a:p>
          <a:p>
            <a:r>
              <a:rPr lang="en-GB" dirty="0"/>
              <a:t>Do not include material in the project that you cannot explain in the oral</a:t>
            </a:r>
          </a:p>
          <a:p>
            <a:r>
              <a:rPr lang="en-GB" dirty="0"/>
              <a:t>It will last approximately 15-20 minutes.</a:t>
            </a:r>
          </a:p>
          <a:p>
            <a:r>
              <a:rPr lang="en-GB" dirty="0"/>
              <a:t>You </a:t>
            </a:r>
            <a:r>
              <a:rPr lang="en-GB" b="1" dirty="0"/>
              <a:t>must pass the oral exam </a:t>
            </a:r>
            <a:r>
              <a:rPr lang="en-GB" dirty="0"/>
              <a:t>to pass the project.</a:t>
            </a:r>
          </a:p>
          <a:p>
            <a:r>
              <a:rPr lang="en-GB" dirty="0"/>
              <a:t>Potential dates for the oral exam are listed in the timeline on p2 in FM50 guidance on KEATS.</a:t>
            </a:r>
          </a:p>
        </p:txBody>
      </p:sp>
    </p:spTree>
    <p:extLst>
      <p:ext uri="{BB962C8B-B14F-4D97-AF65-F5344CB8AC3E}">
        <p14:creationId xmlns:p14="http://schemas.microsoft.com/office/powerpoint/2010/main" val="1565973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43468" y="643467"/>
            <a:ext cx="4620584" cy="4567137"/>
          </a:xfrm>
        </p:spPr>
        <p:txBody>
          <a:bodyPr vert="horz" lIns="91440" tIns="45720" rIns="91440" bIns="45720" rtlCol="0" anchor="b">
            <a:normAutofit/>
          </a:bodyPr>
          <a:lstStyle/>
          <a:p>
            <a:r>
              <a:rPr lang="en-US" sz="4400" dirty="0"/>
              <a:t>PLAGIARISM</a:t>
            </a:r>
            <a:br>
              <a:rPr lang="en-US" sz="4400" dirty="0"/>
            </a:br>
            <a:br>
              <a:rPr lang="en-US" sz="4400" dirty="0"/>
            </a:br>
            <a:endParaRPr lang="en-US" sz="4400" dirty="0"/>
          </a:p>
        </p:txBody>
      </p:sp>
      <p:sp>
        <p:nvSpPr>
          <p:cNvPr id="5" name="Text Placeholder 4"/>
          <p:cNvSpPr>
            <a:spLocks noGrp="1"/>
          </p:cNvSpPr>
          <p:nvPr>
            <p:ph type="body" idx="1"/>
          </p:nvPr>
        </p:nvSpPr>
        <p:spPr>
          <a:xfrm>
            <a:off x="643467" y="5277684"/>
            <a:ext cx="4620584" cy="775494"/>
          </a:xfrm>
        </p:spPr>
        <p:txBody>
          <a:bodyPr vert="horz" lIns="91440" tIns="45720" rIns="91440" bIns="45720" rtlCol="0">
            <a:normAutofit/>
          </a:bodyPr>
          <a:lstStyle/>
          <a:p>
            <a:endParaRPr lang="en-US">
              <a:solidFill>
                <a:schemeClr val="tx1"/>
              </a:solidFill>
            </a:endParaRPr>
          </a:p>
        </p:txBody>
      </p:sp>
    </p:spTree>
    <p:extLst>
      <p:ext uri="{BB962C8B-B14F-4D97-AF65-F5344CB8AC3E}">
        <p14:creationId xmlns:p14="http://schemas.microsoft.com/office/powerpoint/2010/main" val="3324847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PLAGIARISM (quick writing)</a:t>
            </a:r>
          </a:p>
        </p:txBody>
      </p:sp>
      <p:sp>
        <p:nvSpPr>
          <p:cNvPr id="3" name="Content Placeholder 2"/>
          <p:cNvSpPr>
            <a:spLocks noGrp="1"/>
          </p:cNvSpPr>
          <p:nvPr>
            <p:ph idx="1"/>
          </p:nvPr>
        </p:nvSpPr>
        <p:spPr/>
        <p:txBody>
          <a:bodyPr/>
          <a:lstStyle/>
          <a:p>
            <a:pPr marL="0" indent="0">
              <a:buNone/>
            </a:pPr>
            <a:r>
              <a:rPr lang="en-GB" b="1" u="sng" dirty="0"/>
              <a:t>Exercise 1:</a:t>
            </a:r>
          </a:p>
          <a:p>
            <a:pPr marL="0" indent="0">
              <a:buNone/>
            </a:pPr>
            <a:r>
              <a:rPr lang="en-GB" dirty="0"/>
              <a:t>Write a paragraph of your own about plagiarism. Try to cover the following points:</a:t>
            </a:r>
          </a:p>
          <a:p>
            <a:pPr marL="0" indent="0">
              <a:buNone/>
            </a:pPr>
            <a:endParaRPr lang="en-GB" dirty="0"/>
          </a:p>
          <a:p>
            <a:pPr lvl="2"/>
            <a:r>
              <a:rPr lang="en-GB" dirty="0"/>
              <a:t>What is plagiarism?</a:t>
            </a:r>
          </a:p>
          <a:p>
            <a:pPr lvl="2"/>
            <a:endParaRPr lang="en-GB" dirty="0"/>
          </a:p>
          <a:p>
            <a:pPr lvl="2"/>
            <a:r>
              <a:rPr lang="en-GB" dirty="0"/>
              <a:t>How can you tell the difference between a plagiarism and the legitimate use of the literature and lecture notes?</a:t>
            </a:r>
          </a:p>
          <a:p>
            <a:pPr lvl="2"/>
            <a:endParaRPr lang="en-GB" dirty="0"/>
          </a:p>
          <a:p>
            <a:pPr lvl="2"/>
            <a:r>
              <a:rPr lang="en-GB" dirty="0"/>
              <a:t>How can you avoid plagiarism?</a:t>
            </a:r>
          </a:p>
          <a:p>
            <a:pPr lvl="2"/>
            <a:endParaRPr lang="en-GB" dirty="0"/>
          </a:p>
        </p:txBody>
      </p:sp>
    </p:spTree>
    <p:extLst>
      <p:ext uri="{BB962C8B-B14F-4D97-AF65-F5344CB8AC3E}">
        <p14:creationId xmlns:p14="http://schemas.microsoft.com/office/powerpoint/2010/main" val="185806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Plagiarism (def.)</a:t>
            </a:r>
          </a:p>
        </p:txBody>
      </p:sp>
      <p:sp>
        <p:nvSpPr>
          <p:cNvPr id="3" name="Content Placeholder 2"/>
          <p:cNvSpPr>
            <a:spLocks noGrp="1"/>
          </p:cNvSpPr>
          <p:nvPr>
            <p:ph idx="1"/>
          </p:nvPr>
        </p:nvSpPr>
        <p:spPr/>
        <p:txBody>
          <a:bodyPr>
            <a:normAutofit/>
          </a:bodyPr>
          <a:lstStyle/>
          <a:p>
            <a:r>
              <a:rPr lang="en-GB" dirty="0"/>
              <a:t>Plagiarism is a </a:t>
            </a:r>
            <a:r>
              <a:rPr lang="en-GB" b="1" dirty="0"/>
              <a:t>form of cheating where you attempt to pass off someone/something else’s work as your own</a:t>
            </a:r>
            <a:r>
              <a:rPr lang="en-GB" dirty="0"/>
              <a:t>.</a:t>
            </a:r>
          </a:p>
          <a:p>
            <a:r>
              <a:rPr lang="en-GB" dirty="0"/>
              <a:t>If you use someone else’s ideas you should clearly credit them and reference them in your bibliography. If you use someone words you should put them in quotes and clearly reference them.</a:t>
            </a:r>
          </a:p>
          <a:p>
            <a:r>
              <a:rPr lang="en-GB" dirty="0"/>
              <a:t>The guide to FM50 contains links to the college policy on plagiarism and some resources you can follow to find out more about plagiarism.</a:t>
            </a:r>
          </a:p>
          <a:p>
            <a:r>
              <a:rPr lang="en-GB" dirty="0"/>
              <a:t>Because Plagiarism is a form of cheating, it is taken very seriously. You </a:t>
            </a:r>
            <a:r>
              <a:rPr lang="en-GB" dirty="0">
                <a:solidFill>
                  <a:srgbClr val="FF0000"/>
                </a:solidFill>
                <a:highlight>
                  <a:srgbClr val="FFFF00"/>
                </a:highlight>
              </a:rPr>
              <a:t>may potentially get a mark of 0 or be expelled from the college for plagiarism</a:t>
            </a:r>
            <a:r>
              <a:rPr lang="en-GB" dirty="0"/>
              <a:t>. So don’t do it.</a:t>
            </a:r>
          </a:p>
          <a:p>
            <a:endParaRPr lang="en-GB" dirty="0"/>
          </a:p>
          <a:p>
            <a:pPr lvl="1"/>
            <a:endParaRPr lang="en-GB" dirty="0"/>
          </a:p>
          <a:p>
            <a:endParaRPr lang="en-GB" dirty="0"/>
          </a:p>
        </p:txBody>
      </p:sp>
    </p:spTree>
    <p:extLst>
      <p:ext uri="{BB962C8B-B14F-4D97-AF65-F5344CB8AC3E}">
        <p14:creationId xmlns:p14="http://schemas.microsoft.com/office/powerpoint/2010/main" val="2291401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Plagiarism (def.)</a:t>
            </a:r>
          </a:p>
        </p:txBody>
      </p:sp>
      <p:sp>
        <p:nvSpPr>
          <p:cNvPr id="3" name="Content Placeholder 2"/>
          <p:cNvSpPr>
            <a:spLocks noGrp="1"/>
          </p:cNvSpPr>
          <p:nvPr>
            <p:ph idx="1"/>
          </p:nvPr>
        </p:nvSpPr>
        <p:spPr/>
        <p:txBody>
          <a:bodyPr>
            <a:normAutofit/>
          </a:bodyPr>
          <a:lstStyle/>
          <a:p>
            <a:pPr marL="0" indent="0">
              <a:buNone/>
            </a:pPr>
            <a:r>
              <a:rPr lang="en-GB" dirty="0">
                <a:effectLst/>
                <a:highlight>
                  <a:srgbClr val="FFFFFF"/>
                </a:highlight>
                <a:latin typeface="Calibri" panose="020F0502020204030204" pitchFamily="34" charset="0"/>
              </a:rPr>
              <a:t>According to the </a:t>
            </a:r>
            <a:r>
              <a:rPr lang="en-GB" dirty="0">
                <a:solidFill>
                  <a:srgbClr val="0260BF"/>
                </a:solidFill>
                <a:effectLst/>
                <a:highlight>
                  <a:srgbClr val="FFFFFF"/>
                </a:highlight>
                <a:latin typeface="Calibri" panose="020F0502020204030204" pitchFamily="34" charset="0"/>
              </a:rPr>
              <a:t>College policy </a:t>
            </a:r>
            <a:r>
              <a:rPr lang="en-GB" dirty="0">
                <a:effectLst/>
                <a:highlight>
                  <a:srgbClr val="FFFFFF"/>
                </a:highlight>
                <a:latin typeface="Calibri" panose="020F0502020204030204" pitchFamily="34" charset="0"/>
              </a:rPr>
              <a:t>plagiarism can be </a:t>
            </a:r>
            <a:endParaRPr lang="en-GB" dirty="0">
              <a:effectLst/>
              <a:highlight>
                <a:srgbClr val="FFFFFF"/>
              </a:highlight>
            </a:endParaRPr>
          </a:p>
          <a:p>
            <a:r>
              <a:rPr lang="en-GB" dirty="0">
                <a:effectLst/>
                <a:highlight>
                  <a:srgbClr val="FFFFFF"/>
                </a:highlight>
                <a:latin typeface="Calibri" panose="020F0502020204030204" pitchFamily="34" charset="0"/>
              </a:rPr>
              <a:t>Plagiarism e.g. copying, incorrect referencing, copy-paste, paraphrasing </a:t>
            </a:r>
            <a:endParaRPr lang="en-GB" dirty="0">
              <a:effectLst/>
              <a:highlight>
                <a:srgbClr val="FFFFFF"/>
              </a:highlight>
            </a:endParaRPr>
          </a:p>
          <a:p>
            <a:r>
              <a:rPr lang="en-GB" dirty="0">
                <a:effectLst/>
                <a:highlight>
                  <a:srgbClr val="FFFFFF"/>
                </a:highlight>
                <a:latin typeface="Calibri" panose="020F0502020204030204" pitchFamily="34" charset="0"/>
              </a:rPr>
              <a:t>Self-plagiarism e.g. work undertaken at a previous institution </a:t>
            </a:r>
            <a:endParaRPr lang="en-GB" dirty="0">
              <a:effectLst/>
              <a:highlight>
                <a:srgbClr val="FFFFFF"/>
              </a:highlight>
            </a:endParaRPr>
          </a:p>
          <a:p>
            <a:r>
              <a:rPr lang="en-GB" dirty="0">
                <a:effectLst/>
                <a:highlight>
                  <a:srgbClr val="FFFFFF"/>
                </a:highlight>
                <a:latin typeface="Calibri" panose="020F0502020204030204" pitchFamily="34" charset="0"/>
              </a:rPr>
              <a:t>Collusion e.g. submitting another student’s work, in part or as a whole, as their own </a:t>
            </a:r>
            <a:endParaRPr lang="en-GB" dirty="0">
              <a:effectLst/>
              <a:highlight>
                <a:srgbClr val="FFFFFF"/>
              </a:highlight>
            </a:endParaRPr>
          </a:p>
          <a:p>
            <a:r>
              <a:rPr lang="en-GB" dirty="0">
                <a:effectLst/>
                <a:highlight>
                  <a:srgbClr val="FFFFFF"/>
                </a:highlight>
                <a:latin typeface="Calibri" panose="020F0502020204030204" pitchFamily="34" charset="0"/>
              </a:rPr>
              <a:t>Cheating e.g. contract cheating – submitting part written by third party.</a:t>
            </a:r>
            <a:endParaRPr lang="en-GB" dirty="0">
              <a:effectLst/>
              <a:highlight>
                <a:srgbClr val="FFFFFF"/>
              </a:highlight>
            </a:endParaRPr>
          </a:p>
          <a:p>
            <a:endParaRPr lang="en-GB" dirty="0"/>
          </a:p>
          <a:p>
            <a:pPr lvl="1"/>
            <a:endParaRPr lang="en-GB" dirty="0"/>
          </a:p>
          <a:p>
            <a:endParaRPr lang="en-GB" dirty="0"/>
          </a:p>
        </p:txBody>
      </p:sp>
    </p:spTree>
    <p:extLst>
      <p:ext uri="{BB962C8B-B14F-4D97-AF65-F5344CB8AC3E}">
        <p14:creationId xmlns:p14="http://schemas.microsoft.com/office/powerpoint/2010/main" val="3597525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Plagiarism</a:t>
            </a:r>
          </a:p>
        </p:txBody>
      </p:sp>
      <p:sp>
        <p:nvSpPr>
          <p:cNvPr id="3" name="Content Placeholder 2"/>
          <p:cNvSpPr>
            <a:spLocks noGrp="1"/>
          </p:cNvSpPr>
          <p:nvPr>
            <p:ph idx="1"/>
          </p:nvPr>
        </p:nvSpPr>
        <p:spPr/>
        <p:txBody>
          <a:bodyPr/>
          <a:lstStyle/>
          <a:p>
            <a:pPr marL="0" indent="0">
              <a:buNone/>
            </a:pPr>
            <a:r>
              <a:rPr lang="en-GB" b="1" u="sng" dirty="0"/>
              <a:t>Exercise 2:</a:t>
            </a:r>
            <a:r>
              <a:rPr lang="en-GB" dirty="0"/>
              <a:t> Which of the following are examples of plagiarism?</a:t>
            </a:r>
          </a:p>
          <a:p>
            <a:pPr marL="514350" indent="-514350">
              <a:buFont typeface="+mj-lt"/>
              <a:buAutoNum type="arabicPeriod"/>
            </a:pPr>
            <a:r>
              <a:rPr lang="en-GB" dirty="0"/>
              <a:t>Copying a proof from a lecture without giving a reference.</a:t>
            </a:r>
          </a:p>
          <a:p>
            <a:pPr marL="514350" indent="-514350">
              <a:buFont typeface="+mj-lt"/>
              <a:buAutoNum type="arabicPeriod"/>
            </a:pPr>
            <a:r>
              <a:rPr lang="en-GB" dirty="0"/>
              <a:t>Including code that you downloaded from a website in your project.</a:t>
            </a:r>
          </a:p>
          <a:p>
            <a:pPr marL="514350" indent="-514350">
              <a:buFont typeface="+mj-lt"/>
              <a:buAutoNum type="arabicPeriod"/>
            </a:pPr>
            <a:r>
              <a:rPr lang="en-GB" dirty="0"/>
              <a:t>Using someone else’s code to perform a calculation without clearly crediting them.</a:t>
            </a:r>
          </a:p>
          <a:p>
            <a:pPr marL="514350" indent="-514350">
              <a:buFont typeface="+mj-lt"/>
              <a:buAutoNum type="arabicPeriod"/>
            </a:pPr>
            <a:r>
              <a:rPr lang="en-GB" dirty="0"/>
              <a:t>Taking code not written by you and changing it so that it performs a new calculation without clearly crediting the original author.</a:t>
            </a:r>
          </a:p>
          <a:p>
            <a:pPr marL="514350" indent="-514350">
              <a:buFont typeface="+mj-lt"/>
              <a:buAutoNum type="arabicPeriod"/>
            </a:pPr>
            <a:r>
              <a:rPr lang="en-GB" dirty="0"/>
              <a:t>Including a picture you downloaded from the internet in your dissertation without clearly crediting the original author.</a:t>
            </a:r>
          </a:p>
          <a:p>
            <a:endParaRPr lang="en-GB" dirty="0"/>
          </a:p>
        </p:txBody>
      </p:sp>
    </p:spTree>
    <p:extLst>
      <p:ext uri="{BB962C8B-B14F-4D97-AF65-F5344CB8AC3E}">
        <p14:creationId xmlns:p14="http://schemas.microsoft.com/office/powerpoint/2010/main" val="1763124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Avoiding plagiarism</a:t>
            </a:r>
          </a:p>
        </p:txBody>
      </p:sp>
      <p:sp>
        <p:nvSpPr>
          <p:cNvPr id="3" name="Content Placeholder 2"/>
          <p:cNvSpPr>
            <a:spLocks noGrp="1"/>
          </p:cNvSpPr>
          <p:nvPr>
            <p:ph idx="1"/>
          </p:nvPr>
        </p:nvSpPr>
        <p:spPr/>
        <p:txBody>
          <a:bodyPr>
            <a:normAutofit fontScale="85000" lnSpcReduction="10000"/>
          </a:bodyPr>
          <a:lstStyle/>
          <a:p>
            <a:r>
              <a:rPr lang="en-GB" dirty="0"/>
              <a:t>If you copy a picture from the internet (or from a lecture) and credit it correctly you will get little to no credit for that picture as it is not your work.</a:t>
            </a:r>
          </a:p>
          <a:p>
            <a:r>
              <a:rPr lang="en-GB" dirty="0"/>
              <a:t>If you use Python to create your own charts you will be given credit and not accused of plagiarism. So illustrate your dissertation with your own charts.</a:t>
            </a:r>
          </a:p>
          <a:p>
            <a:r>
              <a:rPr lang="en-GB" dirty="0"/>
              <a:t>If you download some software from the internet (or from a course website) and use it to perform a calculation you will get little or no credit as it is not your work.</a:t>
            </a:r>
          </a:p>
          <a:p>
            <a:r>
              <a:rPr lang="en-GB" dirty="0"/>
              <a:t>If you write your own software to perform a task, you will be given credit and not be accused of plagiarism. So write your own code, and if your code is based on someone else’s ideas, credit them clearly in your bibliography.</a:t>
            </a:r>
          </a:p>
          <a:p>
            <a:r>
              <a:rPr lang="en-GB" dirty="0"/>
              <a:t>Writing code and drawing pictures are two of the easiest ways to make a “personal contribution” to the project.</a:t>
            </a:r>
          </a:p>
        </p:txBody>
      </p:sp>
    </p:spTree>
    <p:extLst>
      <p:ext uri="{BB962C8B-B14F-4D97-AF65-F5344CB8AC3E}">
        <p14:creationId xmlns:p14="http://schemas.microsoft.com/office/powerpoint/2010/main" val="3027953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Turnitin</a:t>
            </a:r>
            <a:endParaRPr lang="en-GB" dirty="0"/>
          </a:p>
        </p:txBody>
      </p:sp>
      <p:sp>
        <p:nvSpPr>
          <p:cNvPr id="3" name="Content Placeholder 2"/>
          <p:cNvSpPr>
            <a:spLocks noGrp="1"/>
          </p:cNvSpPr>
          <p:nvPr>
            <p:ph idx="1"/>
          </p:nvPr>
        </p:nvSpPr>
        <p:spPr/>
        <p:txBody>
          <a:bodyPr>
            <a:normAutofit fontScale="92500" lnSpcReduction="20000"/>
          </a:bodyPr>
          <a:lstStyle/>
          <a:p>
            <a:r>
              <a:rPr lang="en-GB" dirty="0"/>
              <a:t>Turnitin is a tool we can use to HELP check if your work is plagiarised.</a:t>
            </a:r>
          </a:p>
          <a:p>
            <a:r>
              <a:rPr lang="en-GB" dirty="0"/>
              <a:t>It gives a score which says how similar your dissertation is to existing literature.</a:t>
            </a:r>
          </a:p>
          <a:p>
            <a:r>
              <a:rPr lang="en-GB" dirty="0"/>
              <a:t>There is no score above or below which your dissertation is acceptable. </a:t>
            </a:r>
            <a:r>
              <a:rPr lang="en-GB" dirty="0" err="1"/>
              <a:t>Turnitin</a:t>
            </a:r>
            <a:r>
              <a:rPr lang="en-GB" dirty="0"/>
              <a:t> is simply used as a guide.</a:t>
            </a:r>
          </a:p>
          <a:p>
            <a:r>
              <a:rPr lang="en-GB" dirty="0"/>
              <a:t>Students who struggle with the idea of writing their own personal ideas in their own words may find it helpful to run </a:t>
            </a:r>
            <a:r>
              <a:rPr lang="en-GB" dirty="0" err="1"/>
              <a:t>Turnitin</a:t>
            </a:r>
            <a:r>
              <a:rPr lang="en-GB" dirty="0"/>
              <a:t> on their own project.</a:t>
            </a:r>
          </a:p>
          <a:p>
            <a:r>
              <a:rPr lang="en-GB" dirty="0"/>
              <a:t>Some students may be tempted to run their dissertation through Turnitin repeatedly changing bits as they go until they get a sufficiently low score. Doing this is a stupid waste of time and might potentially be seen as deliberate cheating to avoid plagiarism going unnoticed. Instead of trying to game Turnitin, WRITE YOUR DISSERTATION IN YOUR OWN WORDS with a SIGNIFICANT PERSONAL CONTRIBUTION.</a:t>
            </a:r>
          </a:p>
        </p:txBody>
      </p:sp>
    </p:spTree>
    <p:extLst>
      <p:ext uri="{BB962C8B-B14F-4D97-AF65-F5344CB8AC3E}">
        <p14:creationId xmlns:p14="http://schemas.microsoft.com/office/powerpoint/2010/main" val="14526004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you must submit</a:t>
            </a:r>
          </a:p>
        </p:txBody>
      </p:sp>
      <p:sp>
        <p:nvSpPr>
          <p:cNvPr id="3" name="Content Placeholder 2"/>
          <p:cNvSpPr>
            <a:spLocks noGrp="1"/>
          </p:cNvSpPr>
          <p:nvPr>
            <p:ph idx="1"/>
          </p:nvPr>
        </p:nvSpPr>
        <p:spPr/>
        <p:txBody>
          <a:bodyPr/>
          <a:lstStyle/>
          <a:p>
            <a:r>
              <a:rPr lang="en-GB" dirty="0"/>
              <a:t>You must </a:t>
            </a:r>
            <a:r>
              <a:rPr lang="en-GB" dirty="0">
                <a:highlight>
                  <a:srgbClr val="FFFF00"/>
                </a:highlight>
              </a:rPr>
              <a:t>submit your dissertation pdf via the 2026 FM50 Keats page</a:t>
            </a:r>
            <a:r>
              <a:rPr lang="en-GB" dirty="0"/>
              <a:t>. This will automatically run </a:t>
            </a:r>
            <a:r>
              <a:rPr lang="en-GB" dirty="0" err="1"/>
              <a:t>Turnitin</a:t>
            </a:r>
            <a:r>
              <a:rPr lang="en-GB" dirty="0"/>
              <a:t>.</a:t>
            </a:r>
          </a:p>
          <a:p>
            <a:r>
              <a:rPr lang="en-GB" dirty="0"/>
              <a:t>You must </a:t>
            </a:r>
            <a:r>
              <a:rPr lang="en-GB" dirty="0">
                <a:highlight>
                  <a:srgbClr val="FFFF00"/>
                </a:highlight>
              </a:rPr>
              <a:t>fill out the plagiarism declaration </a:t>
            </a:r>
            <a:r>
              <a:rPr lang="en-GB" dirty="0"/>
              <a:t>form at the beginning of the project file.</a:t>
            </a:r>
          </a:p>
          <a:p>
            <a:r>
              <a:rPr lang="en-GB" dirty="0"/>
              <a:t>You </a:t>
            </a:r>
            <a:r>
              <a:rPr lang="en-GB" dirty="0">
                <a:highlight>
                  <a:srgbClr val="FFFF00"/>
                </a:highlight>
              </a:rPr>
              <a:t>must include the source code </a:t>
            </a:r>
            <a:r>
              <a:rPr lang="en-GB" dirty="0"/>
              <a:t>for any software you have written for your project as an appendix to the dissertation.</a:t>
            </a:r>
          </a:p>
          <a:p>
            <a:r>
              <a:rPr lang="en-GB" dirty="0"/>
              <a:t>You write your Python code in </a:t>
            </a:r>
            <a:r>
              <a:rPr lang="en-GB" dirty="0" err="1"/>
              <a:t>CoCalc</a:t>
            </a:r>
            <a:r>
              <a:rPr lang="en-GB" dirty="0"/>
              <a:t> (you will receive an invitation to the </a:t>
            </a:r>
            <a:r>
              <a:rPr lang="en-GB" dirty="0" err="1"/>
              <a:t>CoCalc</a:t>
            </a:r>
            <a:r>
              <a:rPr lang="en-GB" dirty="0"/>
              <a:t> project). Having quick access to this can help clarify points in the oral exam.</a:t>
            </a:r>
          </a:p>
          <a:p>
            <a:pPr marL="0" indent="0">
              <a:buNone/>
            </a:pPr>
            <a:endParaRPr lang="en-GB" dirty="0"/>
          </a:p>
        </p:txBody>
      </p:sp>
    </p:spTree>
    <p:extLst>
      <p:ext uri="{BB962C8B-B14F-4D97-AF65-F5344CB8AC3E}">
        <p14:creationId xmlns:p14="http://schemas.microsoft.com/office/powerpoint/2010/main" val="224213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Project preparation</a:t>
            </a:r>
            <a:br>
              <a:rPr lang="en-GB" dirty="0"/>
            </a:br>
            <a:endParaRPr lang="en-GB" dirty="0"/>
          </a:p>
        </p:txBody>
      </p:sp>
      <p:sp>
        <p:nvSpPr>
          <p:cNvPr id="5" name="Text Placeholder 4"/>
          <p:cNvSpPr>
            <a:spLocks noGrp="1"/>
          </p:cNvSpPr>
          <p:nvPr>
            <p:ph type="body" idx="1"/>
          </p:nvPr>
        </p:nvSpPr>
        <p:spPr/>
        <p:txBody>
          <a:bodyPr/>
          <a:lstStyle/>
          <a:p>
            <a:endParaRPr lang="en-GB"/>
          </a:p>
        </p:txBody>
      </p:sp>
    </p:spTree>
    <p:extLst>
      <p:ext uri="{BB962C8B-B14F-4D97-AF65-F5344CB8AC3E}">
        <p14:creationId xmlns:p14="http://schemas.microsoft.com/office/powerpoint/2010/main" val="458716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Project preparation</a:t>
            </a:r>
          </a:p>
        </p:txBody>
      </p:sp>
      <p:sp>
        <p:nvSpPr>
          <p:cNvPr id="5" name="Content Placeholder 4"/>
          <p:cNvSpPr>
            <a:spLocks noGrp="1"/>
          </p:cNvSpPr>
          <p:nvPr>
            <p:ph idx="1"/>
          </p:nvPr>
        </p:nvSpPr>
        <p:spPr/>
        <p:txBody>
          <a:bodyPr>
            <a:normAutofit/>
          </a:bodyPr>
          <a:lstStyle/>
          <a:p>
            <a:pPr marL="0" indent="0">
              <a:buNone/>
            </a:pPr>
            <a:r>
              <a:rPr lang="en-GB" dirty="0"/>
              <a:t>The project requires </a:t>
            </a:r>
            <a:r>
              <a:rPr lang="en-GB" dirty="0">
                <a:highlight>
                  <a:srgbClr val="FFFF00"/>
                </a:highlight>
              </a:rPr>
              <a:t>communicating mathematical ideas in English</a:t>
            </a:r>
          </a:p>
          <a:p>
            <a:r>
              <a:rPr lang="en-GB" dirty="0"/>
              <a:t>Mathematical writing support (diagnostic test, support sessions)</a:t>
            </a:r>
          </a:p>
          <a:p>
            <a:r>
              <a:rPr lang="en-GB" dirty="0"/>
              <a:t>English language support (resources on Keats)</a:t>
            </a:r>
          </a:p>
          <a:p>
            <a:r>
              <a:rPr lang="en-GB" dirty="0"/>
              <a:t>Dissertation writing support</a:t>
            </a:r>
          </a:p>
          <a:p>
            <a:r>
              <a:rPr lang="en-GB" dirty="0"/>
              <a:t>Bloomberg tutorials (working with data)</a:t>
            </a:r>
          </a:p>
          <a:p>
            <a:r>
              <a:rPr lang="en-GB" dirty="0"/>
              <a:t>Typesetting mathematics using LaTeX (we provide the template)</a:t>
            </a:r>
          </a:p>
          <a:p>
            <a:endParaRPr lang="en-GB" sz="1800" dirty="0">
              <a:effectLst/>
              <a:highlight>
                <a:srgbClr val="FFFFFF"/>
              </a:highlight>
              <a:latin typeface="Calibri" panose="020F0502020204030204" pitchFamily="34" charset="0"/>
            </a:endParaRPr>
          </a:p>
          <a:p>
            <a:pPr marL="0" indent="0">
              <a:buNone/>
            </a:pPr>
            <a:r>
              <a:rPr lang="en-GB" dirty="0">
                <a:effectLst/>
                <a:highlight>
                  <a:srgbClr val="FFFFFF"/>
                </a:highlight>
                <a:latin typeface="Calibri" panose="020F0502020204030204" pitchFamily="34" charset="0"/>
              </a:rPr>
              <a:t>Resources: </a:t>
            </a:r>
            <a:r>
              <a:rPr lang="en-GB" dirty="0">
                <a:solidFill>
                  <a:srgbClr val="0260BF"/>
                </a:solidFill>
                <a:effectLst/>
                <a:highlight>
                  <a:srgbClr val="FFFFFF"/>
                </a:highlight>
                <a:latin typeface="Calibri" panose="020F0502020204030204" pitchFamily="34" charset="0"/>
              </a:rPr>
              <a:t>https://</a:t>
            </a:r>
            <a:r>
              <a:rPr lang="en-GB" dirty="0" err="1">
                <a:solidFill>
                  <a:srgbClr val="0260BF"/>
                </a:solidFill>
                <a:effectLst/>
                <a:highlight>
                  <a:srgbClr val="FFFFFF"/>
                </a:highlight>
                <a:latin typeface="Calibri" panose="020F0502020204030204" pitchFamily="34" charset="0"/>
              </a:rPr>
              <a:t>libguides.kcl.ac.uk</a:t>
            </a:r>
            <a:r>
              <a:rPr lang="en-GB" dirty="0">
                <a:solidFill>
                  <a:srgbClr val="0260BF"/>
                </a:solidFill>
                <a:effectLst/>
                <a:highlight>
                  <a:srgbClr val="FFFFFF"/>
                </a:highlight>
                <a:latin typeface="Calibri" panose="020F0502020204030204" pitchFamily="34" charset="0"/>
              </a:rPr>
              <a:t>/</a:t>
            </a:r>
            <a:r>
              <a:rPr lang="en-GB" dirty="0" err="1">
                <a:solidFill>
                  <a:srgbClr val="0260BF"/>
                </a:solidFill>
                <a:effectLst/>
                <a:highlight>
                  <a:srgbClr val="FFFFFF"/>
                </a:highlight>
                <a:latin typeface="Calibri" panose="020F0502020204030204" pitchFamily="34" charset="0"/>
              </a:rPr>
              <a:t>studyskills</a:t>
            </a:r>
            <a:r>
              <a:rPr lang="en-GB" dirty="0">
                <a:solidFill>
                  <a:srgbClr val="0260BF"/>
                </a:solidFill>
                <a:effectLst/>
                <a:highlight>
                  <a:srgbClr val="FFFFFF"/>
                </a:highlight>
                <a:latin typeface="Calibri" panose="020F0502020204030204" pitchFamily="34" charset="0"/>
              </a:rPr>
              <a:t> </a:t>
            </a:r>
            <a:endParaRPr lang="en-GB" dirty="0">
              <a:effectLst/>
              <a:highlight>
                <a:srgbClr val="FFFFFF"/>
              </a:highlight>
            </a:endParaRPr>
          </a:p>
          <a:p>
            <a:endParaRPr lang="en-GB" dirty="0"/>
          </a:p>
          <a:p>
            <a:endParaRPr lang="en-GB" dirty="0"/>
          </a:p>
        </p:txBody>
      </p:sp>
    </p:spTree>
    <p:extLst>
      <p:ext uri="{BB962C8B-B14F-4D97-AF65-F5344CB8AC3E}">
        <p14:creationId xmlns:p14="http://schemas.microsoft.com/office/powerpoint/2010/main" val="37270267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The Project Template</a:t>
            </a:r>
            <a:br>
              <a:rPr lang="en-GB" dirty="0"/>
            </a:br>
            <a:endParaRPr lang="en-GB" dirty="0"/>
          </a:p>
        </p:txBody>
      </p:sp>
      <p:sp>
        <p:nvSpPr>
          <p:cNvPr id="5" name="Text Placeholder 4"/>
          <p:cNvSpPr>
            <a:spLocks noGrp="1"/>
          </p:cNvSpPr>
          <p:nvPr>
            <p:ph type="body" idx="1"/>
          </p:nvPr>
        </p:nvSpPr>
        <p:spPr/>
        <p:txBody>
          <a:bodyPr/>
          <a:lstStyle/>
          <a:p>
            <a:endParaRPr lang="en-GB"/>
          </a:p>
        </p:txBody>
      </p:sp>
    </p:spTree>
    <p:extLst>
      <p:ext uri="{BB962C8B-B14F-4D97-AF65-F5344CB8AC3E}">
        <p14:creationId xmlns:p14="http://schemas.microsoft.com/office/powerpoint/2010/main" val="2265427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The LaTeX Project Template</a:t>
            </a:r>
          </a:p>
        </p:txBody>
      </p:sp>
      <p:sp>
        <p:nvSpPr>
          <p:cNvPr id="5" name="Content Placeholder 4"/>
          <p:cNvSpPr>
            <a:spLocks noGrp="1"/>
          </p:cNvSpPr>
          <p:nvPr>
            <p:ph idx="1"/>
          </p:nvPr>
        </p:nvSpPr>
        <p:spPr/>
        <p:txBody>
          <a:bodyPr>
            <a:normAutofit lnSpcReduction="10000"/>
          </a:bodyPr>
          <a:lstStyle/>
          <a:p>
            <a:r>
              <a:rPr lang="en-GB" dirty="0"/>
              <a:t>Your </a:t>
            </a:r>
            <a:r>
              <a:rPr lang="en-GB" b="1" dirty="0"/>
              <a:t>project must be written in LaTeX</a:t>
            </a:r>
            <a:r>
              <a:rPr lang="en-GB" dirty="0"/>
              <a:t>. The LaTeX project template is available on KEATS as a starting point.</a:t>
            </a:r>
          </a:p>
          <a:p>
            <a:r>
              <a:rPr lang="en-GB" dirty="0"/>
              <a:t>Online environment: Overleaf (</a:t>
            </a:r>
            <a:r>
              <a:rPr lang="en-GB" dirty="0">
                <a:hlinkClick r:id="rId2"/>
              </a:rPr>
              <a:t>https://www.overleaf.com/edu/kcl</a:t>
            </a:r>
            <a:r>
              <a:rPr lang="en-GB" dirty="0"/>
              <a:t>)</a:t>
            </a:r>
          </a:p>
          <a:p>
            <a:r>
              <a:rPr lang="en-GB" dirty="0"/>
              <a:t>This is a typical outline of the structure expected for your project:</a:t>
            </a:r>
          </a:p>
          <a:p>
            <a:pPr lvl="1"/>
            <a:r>
              <a:rPr lang="en-GB" dirty="0"/>
              <a:t>Abstract</a:t>
            </a:r>
          </a:p>
          <a:p>
            <a:pPr lvl="1"/>
            <a:r>
              <a:rPr lang="en-GB" dirty="0"/>
              <a:t>Introduction</a:t>
            </a:r>
          </a:p>
          <a:p>
            <a:pPr lvl="1"/>
            <a:r>
              <a:rPr lang="en-GB" dirty="0"/>
              <a:t>1. Mathematical and Financial Background</a:t>
            </a:r>
          </a:p>
          <a:p>
            <a:pPr lvl="1"/>
            <a:r>
              <a:rPr lang="en-GB" dirty="0"/>
              <a:t>2. Numerical Computation</a:t>
            </a:r>
          </a:p>
          <a:p>
            <a:pPr lvl="1"/>
            <a:r>
              <a:rPr lang="en-GB" dirty="0"/>
              <a:t>3. Personal contribution</a:t>
            </a:r>
          </a:p>
          <a:p>
            <a:pPr lvl="1"/>
            <a:r>
              <a:rPr lang="en-GB" dirty="0"/>
              <a:t>Conclusions</a:t>
            </a:r>
          </a:p>
          <a:p>
            <a:pPr lvl="1"/>
            <a:r>
              <a:rPr lang="en-GB" dirty="0"/>
              <a:t>Appendix (codes)</a:t>
            </a:r>
          </a:p>
        </p:txBody>
      </p:sp>
    </p:spTree>
    <p:extLst>
      <p:ext uri="{BB962C8B-B14F-4D97-AF65-F5344CB8AC3E}">
        <p14:creationId xmlns:p14="http://schemas.microsoft.com/office/powerpoint/2010/main" val="2202391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Personal Contribution</a:t>
            </a:r>
          </a:p>
        </p:txBody>
      </p:sp>
      <p:sp>
        <p:nvSpPr>
          <p:cNvPr id="3" name="Content Placeholder 2"/>
          <p:cNvSpPr>
            <a:spLocks noGrp="1"/>
          </p:cNvSpPr>
          <p:nvPr>
            <p:ph idx="1"/>
          </p:nvPr>
        </p:nvSpPr>
        <p:spPr/>
        <p:txBody>
          <a:bodyPr>
            <a:normAutofit fontScale="92500" lnSpcReduction="20000"/>
          </a:bodyPr>
          <a:lstStyle/>
          <a:p>
            <a:pPr marL="0" indent="0">
              <a:buNone/>
            </a:pPr>
            <a:r>
              <a:rPr lang="en-GB" b="1" dirty="0"/>
              <a:t>Chapter 3 contains your EXTENDED personal contribution, but personal contributions are expected throughout.</a:t>
            </a:r>
          </a:p>
          <a:p>
            <a:r>
              <a:rPr lang="en-GB" b="1" dirty="0"/>
              <a:t>Literature Review</a:t>
            </a:r>
            <a:r>
              <a:rPr lang="en-GB" dirty="0"/>
              <a:t>: Your selection of material and choice of presentation should be highly personal. For example, the charts you use to illustrate general ideas could be derived from the numerical computations you perform later.</a:t>
            </a:r>
          </a:p>
          <a:p>
            <a:r>
              <a:rPr lang="en-GB" b="1" dirty="0"/>
              <a:t>Numerical Computation</a:t>
            </a:r>
            <a:r>
              <a:rPr lang="en-GB" dirty="0"/>
              <a:t>: your personal use of Python (in </a:t>
            </a:r>
            <a:r>
              <a:rPr lang="en-GB" dirty="0" err="1"/>
              <a:t>CoCalc</a:t>
            </a:r>
            <a:r>
              <a:rPr lang="en-GB" dirty="0"/>
              <a:t>)</a:t>
            </a:r>
          </a:p>
          <a:p>
            <a:r>
              <a:rPr lang="en-GB" dirty="0">
                <a:highlight>
                  <a:srgbClr val="00FFFF"/>
                </a:highlight>
              </a:rPr>
              <a:t>As well as performing the computation you must say how the computation was performed, how you have interpreted the results, how you have tested your answer. There is a great deal of scope for personal input. We ask a specific, rigid question but there may be better questions we </a:t>
            </a:r>
            <a:r>
              <a:rPr lang="en-GB" i="1" dirty="0">
                <a:highlight>
                  <a:srgbClr val="00FFFF"/>
                </a:highlight>
              </a:rPr>
              <a:t>could</a:t>
            </a:r>
            <a:r>
              <a:rPr lang="en-GB" dirty="0">
                <a:highlight>
                  <a:srgbClr val="00FFFF"/>
                </a:highlight>
              </a:rPr>
              <a:t> have asked</a:t>
            </a:r>
            <a:r>
              <a:rPr lang="en-GB" i="1" dirty="0">
                <a:highlight>
                  <a:srgbClr val="00FFFF"/>
                </a:highlight>
              </a:rPr>
              <a:t> </a:t>
            </a:r>
            <a:r>
              <a:rPr lang="en-GB" dirty="0">
                <a:highlight>
                  <a:srgbClr val="00FFFF"/>
                </a:highlight>
              </a:rPr>
              <a:t>so your write up should try to answer those questions in addition to the concrete question posed</a:t>
            </a:r>
            <a:r>
              <a:rPr lang="en-GB" dirty="0"/>
              <a:t>.</a:t>
            </a:r>
          </a:p>
          <a:p>
            <a:endParaRPr lang="en-GB" dirty="0"/>
          </a:p>
        </p:txBody>
      </p:sp>
    </p:spTree>
    <p:extLst>
      <p:ext uri="{BB962C8B-B14F-4D97-AF65-F5344CB8AC3E}">
        <p14:creationId xmlns:p14="http://schemas.microsoft.com/office/powerpoint/2010/main" val="4021505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SUPERVISION</a:t>
            </a:r>
            <a:br>
              <a:rPr lang="en-GB" dirty="0"/>
            </a:br>
            <a:endParaRPr lang="en-GB" dirty="0"/>
          </a:p>
        </p:txBody>
      </p:sp>
      <p:sp>
        <p:nvSpPr>
          <p:cNvPr id="5" name="Text Placeholder 4"/>
          <p:cNvSpPr>
            <a:spLocks noGrp="1"/>
          </p:cNvSpPr>
          <p:nvPr>
            <p:ph type="body" idx="1"/>
          </p:nvPr>
        </p:nvSpPr>
        <p:spPr/>
        <p:txBody>
          <a:bodyPr/>
          <a:lstStyle/>
          <a:p>
            <a:endParaRPr lang="en-GB"/>
          </a:p>
        </p:txBody>
      </p:sp>
    </p:spTree>
    <p:extLst>
      <p:ext uri="{BB962C8B-B14F-4D97-AF65-F5344CB8AC3E}">
        <p14:creationId xmlns:p14="http://schemas.microsoft.com/office/powerpoint/2010/main" val="24831821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Supervision outline</a:t>
            </a:r>
          </a:p>
        </p:txBody>
      </p:sp>
      <p:sp>
        <p:nvSpPr>
          <p:cNvPr id="5" name="Content Placeholder 4"/>
          <p:cNvSpPr>
            <a:spLocks noGrp="1"/>
          </p:cNvSpPr>
          <p:nvPr>
            <p:ph idx="1"/>
          </p:nvPr>
        </p:nvSpPr>
        <p:spPr/>
        <p:txBody>
          <a:bodyPr>
            <a:normAutofit fontScale="92500" lnSpcReduction="10000"/>
          </a:bodyPr>
          <a:lstStyle/>
          <a:p>
            <a:r>
              <a:rPr lang="en-GB" dirty="0"/>
              <a:t>Everyone receives 3 supervisions </a:t>
            </a:r>
            <a:r>
              <a:rPr lang="en-GB" dirty="0">
                <a:highlight>
                  <a:srgbClr val="FFFF00"/>
                </a:highlight>
              </a:rPr>
              <a:t>in-person</a:t>
            </a:r>
            <a:r>
              <a:rPr lang="en-GB" dirty="0"/>
              <a:t>. One in June, one in July and one in August.</a:t>
            </a:r>
          </a:p>
          <a:p>
            <a:r>
              <a:rPr lang="en-GB" dirty="0"/>
              <a:t>The first supervision is typically a group supervision so you cannot </a:t>
            </a:r>
            <a:r>
              <a:rPr lang="en-GB" dirty="0" err="1"/>
              <a:t>negociate</a:t>
            </a:r>
            <a:r>
              <a:rPr lang="en-GB" dirty="0"/>
              <a:t> the date for this</a:t>
            </a:r>
          </a:p>
          <a:p>
            <a:r>
              <a:rPr lang="en-GB" dirty="0"/>
              <a:t>Individual supervisions typically last one hour.</a:t>
            </a:r>
          </a:p>
          <a:p>
            <a:r>
              <a:rPr lang="en-GB" dirty="0"/>
              <a:t>FM50 is an assessment. To ensure fairness, you cannot have additional supervision.</a:t>
            </a:r>
          </a:p>
          <a:p>
            <a:r>
              <a:rPr lang="en-GB" dirty="0"/>
              <a:t>Go to your supervision prepared. You should go with questions, ideas and with the work you have done so far written up.</a:t>
            </a:r>
          </a:p>
          <a:p>
            <a:r>
              <a:rPr lang="en-GB" dirty="0"/>
              <a:t>If you do not pass enough credits you will be suspended from the project until you do. We get the results by the second supervision.</a:t>
            </a:r>
          </a:p>
          <a:p>
            <a:endParaRPr lang="en-GB" dirty="0"/>
          </a:p>
        </p:txBody>
      </p:sp>
    </p:spTree>
    <p:extLst>
      <p:ext uri="{BB962C8B-B14F-4D97-AF65-F5344CB8AC3E}">
        <p14:creationId xmlns:p14="http://schemas.microsoft.com/office/powerpoint/2010/main" val="13234584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Industrial Placements</a:t>
            </a:r>
          </a:p>
        </p:txBody>
      </p:sp>
      <p:sp>
        <p:nvSpPr>
          <p:cNvPr id="3" name="Content Placeholder 2"/>
          <p:cNvSpPr>
            <a:spLocks noGrp="1"/>
          </p:cNvSpPr>
          <p:nvPr>
            <p:ph idx="1"/>
          </p:nvPr>
        </p:nvSpPr>
        <p:spPr/>
        <p:txBody>
          <a:bodyPr/>
          <a:lstStyle/>
          <a:p>
            <a:r>
              <a:rPr lang="en-GB" dirty="0"/>
              <a:t>Some of you may be selected for an industrial collaboration.</a:t>
            </a:r>
          </a:p>
          <a:p>
            <a:r>
              <a:rPr lang="en-GB" dirty="0"/>
              <a:t>Parts 1 and 2 of your project are unaffected.</a:t>
            </a:r>
          </a:p>
          <a:p>
            <a:r>
              <a:rPr lang="en-GB" dirty="0"/>
              <a:t>Part 3 of your project can be determined by your industrial partner. The additional industry supervision you have received will be taken into account when deciding your mark. </a:t>
            </a:r>
            <a:r>
              <a:rPr lang="en-GB" i="1" dirty="0"/>
              <a:t>Please inform your supervisor in the first meeting if you are selected for this</a:t>
            </a:r>
            <a:r>
              <a:rPr lang="en-GB" dirty="0"/>
              <a:t>.</a:t>
            </a:r>
          </a:p>
        </p:txBody>
      </p:sp>
    </p:spTree>
    <p:extLst>
      <p:ext uri="{BB962C8B-B14F-4D97-AF65-F5344CB8AC3E}">
        <p14:creationId xmlns:p14="http://schemas.microsoft.com/office/powerpoint/2010/main" val="4942927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The Project Topics</a:t>
            </a:r>
          </a:p>
        </p:txBody>
      </p:sp>
      <p:sp>
        <p:nvSpPr>
          <p:cNvPr id="5" name="Text Placeholder 4"/>
          <p:cNvSpPr>
            <a:spLocks noGrp="1"/>
          </p:cNvSpPr>
          <p:nvPr>
            <p:ph type="body" idx="1"/>
          </p:nvPr>
        </p:nvSpPr>
        <p:spPr/>
        <p:txBody>
          <a:bodyPr/>
          <a:lstStyle/>
          <a:p>
            <a:endParaRPr lang="en-GB"/>
          </a:p>
        </p:txBody>
      </p:sp>
    </p:spTree>
    <p:extLst>
      <p:ext uri="{BB962C8B-B14F-4D97-AF65-F5344CB8AC3E}">
        <p14:creationId xmlns:p14="http://schemas.microsoft.com/office/powerpoint/2010/main" val="42661448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Project 3: </a:t>
            </a:r>
            <a:r>
              <a:rPr lang="en-GB" sz="4900" dirty="0">
                <a:effectLst/>
              </a:rPr>
              <a:t>A joint density for FX rates from observed cross-smiles </a:t>
            </a:r>
            <a:br>
              <a:rPr lang="en-GB" dirty="0"/>
            </a:br>
            <a:endParaRPr lang="en-GB" dirty="0"/>
          </a:p>
        </p:txBody>
      </p:sp>
      <p:sp>
        <p:nvSpPr>
          <p:cNvPr id="3" name="Content Placeholder 2"/>
          <p:cNvSpPr>
            <a:spLocks noGrp="1"/>
          </p:cNvSpPr>
          <p:nvPr>
            <p:ph idx="1"/>
          </p:nvPr>
        </p:nvSpPr>
        <p:spPr/>
        <p:txBody>
          <a:bodyPr>
            <a:normAutofit/>
          </a:bodyPr>
          <a:lstStyle/>
          <a:p>
            <a:r>
              <a:rPr lang="en-GB" dirty="0"/>
              <a:t>In FX market we have three currencies: USD, GBP,  EUR, USD. The pairwise cross-rates X=EUR/USD, Y=GBP/USD (cable), and Z=X/Y=EUR/GBP. </a:t>
            </a:r>
          </a:p>
          <a:p>
            <a:r>
              <a:rPr lang="en-GB" dirty="0"/>
              <a:t>Given three target marginal densities µ</a:t>
            </a:r>
            <a:r>
              <a:rPr lang="en-GB" baseline="-25000" dirty="0"/>
              <a:t>X</a:t>
            </a:r>
            <a:r>
              <a:rPr lang="en-GB" dirty="0"/>
              <a:t>, µ</a:t>
            </a:r>
            <a:r>
              <a:rPr lang="en-GB" baseline="-25000" dirty="0"/>
              <a:t>Y</a:t>
            </a:r>
            <a:r>
              <a:rPr lang="en-GB" dirty="0"/>
              <a:t>, µ</a:t>
            </a:r>
            <a:r>
              <a:rPr lang="en-GB" baseline="-25000" dirty="0"/>
              <a:t>Z</a:t>
            </a:r>
            <a:r>
              <a:rPr lang="en-GB" dirty="0"/>
              <a:t>, we want to find a joint density µ* that is consistent with all three</a:t>
            </a:r>
          </a:p>
          <a:p>
            <a:r>
              <a:rPr lang="en-GB" dirty="0"/>
              <a:t>Target densities can be inferred from market European option prices using the </a:t>
            </a:r>
            <a:r>
              <a:rPr lang="en-GB" dirty="0" err="1"/>
              <a:t>Gatheral</a:t>
            </a:r>
            <a:r>
              <a:rPr lang="en-GB" dirty="0"/>
              <a:t> SVI parametrization to interpolate between market implied volatilities.</a:t>
            </a:r>
          </a:p>
          <a:p>
            <a:r>
              <a:rPr lang="en-GB" dirty="0"/>
              <a:t>With these we can obtain a </a:t>
            </a:r>
            <a:r>
              <a:rPr lang="en-GB" b="1" dirty="0"/>
              <a:t>joint density for FX rates</a:t>
            </a:r>
            <a:r>
              <a:rPr lang="en-GB" dirty="0"/>
              <a:t>.</a:t>
            </a:r>
          </a:p>
        </p:txBody>
      </p:sp>
    </p:spTree>
    <p:extLst>
      <p:ext uri="{BB962C8B-B14F-4D97-AF65-F5344CB8AC3E}">
        <p14:creationId xmlns:p14="http://schemas.microsoft.com/office/powerpoint/2010/main" val="1705873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Project 1: </a:t>
            </a:r>
            <a:r>
              <a:rPr lang="en-GB" dirty="0">
                <a:effectLst/>
              </a:rPr>
              <a:t>A joint density for FX rates from observed cross-smiles </a:t>
            </a:r>
            <a:r>
              <a:rPr lang="en-GB" dirty="0"/>
              <a:t>(cont’d)</a:t>
            </a:r>
          </a:p>
        </p:txBody>
      </p:sp>
      <p:sp>
        <p:nvSpPr>
          <p:cNvPr id="3" name="Content Placeholder 2"/>
          <p:cNvSpPr>
            <a:spLocks noGrp="1"/>
          </p:cNvSpPr>
          <p:nvPr>
            <p:ph idx="1"/>
          </p:nvPr>
        </p:nvSpPr>
        <p:spPr/>
        <p:txBody>
          <a:bodyPr>
            <a:normAutofit lnSpcReduction="10000"/>
          </a:bodyPr>
          <a:lstStyle/>
          <a:p>
            <a:r>
              <a:rPr lang="en-GB" dirty="0"/>
              <a:t>The joint density for FX rates can then be used to </a:t>
            </a:r>
            <a:r>
              <a:rPr lang="en-GB" b="1" dirty="0"/>
              <a:t>price options </a:t>
            </a:r>
            <a:r>
              <a:rPr lang="en-GB" dirty="0"/>
              <a:t>(</a:t>
            </a:r>
            <a:r>
              <a:rPr lang="en-GB" dirty="0">
                <a:effectLst/>
                <a:latin typeface="Calibri" panose="020F0502020204030204" pitchFamily="34" charset="0"/>
                <a:cs typeface="Calibri" panose="020F0502020204030204" pitchFamily="34" charset="0"/>
              </a:rPr>
              <a:t>basket, </a:t>
            </a:r>
            <a:r>
              <a:rPr lang="en-GB" dirty="0" err="1">
                <a:effectLst/>
                <a:latin typeface="Calibri" panose="020F0502020204030204" pitchFamily="34" charset="0"/>
                <a:cs typeface="Calibri" panose="020F0502020204030204" pitchFamily="34" charset="0"/>
              </a:rPr>
              <a:t>quanto</a:t>
            </a:r>
            <a:r>
              <a:rPr lang="en-GB" dirty="0">
                <a:effectLst/>
                <a:latin typeface="Calibri" panose="020F0502020204030204" pitchFamily="34" charset="0"/>
                <a:cs typeface="Calibri" panose="020F0502020204030204" pitchFamily="34" charset="0"/>
              </a:rPr>
              <a:t> or best-of options) whose terminal payoff depends on X and Y. </a:t>
            </a:r>
          </a:p>
          <a:p>
            <a:r>
              <a:rPr lang="en-GB" dirty="0">
                <a:latin typeface="Calibri" panose="020F0502020204030204" pitchFamily="34" charset="0"/>
                <a:cs typeface="Calibri" panose="020F0502020204030204" pitchFamily="34" charset="0"/>
              </a:rPr>
              <a:t>The problem requires parameter estimation using least squares minimization, and then </a:t>
            </a:r>
            <a:r>
              <a:rPr lang="en-GB" dirty="0" err="1">
                <a:latin typeface="Calibri" panose="020F0502020204030204" pitchFamily="34" charset="0"/>
                <a:cs typeface="Calibri" panose="020F0502020204030204" pitchFamily="34" charset="0"/>
              </a:rPr>
              <a:t>iteratetively</a:t>
            </a:r>
            <a:r>
              <a:rPr lang="en-GB" dirty="0">
                <a:latin typeface="Calibri" panose="020F0502020204030204" pitchFamily="34" charset="0"/>
                <a:cs typeface="Calibri" panose="020F0502020204030204" pitchFamily="34" charset="0"/>
              </a:rPr>
              <a:t> solving for the required joint density using </a:t>
            </a:r>
            <a:r>
              <a:rPr lang="en-GB" b="1" dirty="0" err="1">
                <a:latin typeface="Calibri" panose="020F0502020204030204" pitchFamily="34" charset="0"/>
                <a:cs typeface="Calibri" panose="020F0502020204030204" pitchFamily="34" charset="0"/>
              </a:rPr>
              <a:t>Sinkhorn</a:t>
            </a:r>
            <a:r>
              <a:rPr lang="en-GB" b="1" dirty="0">
                <a:latin typeface="Calibri" panose="020F0502020204030204" pitchFamily="34" charset="0"/>
                <a:cs typeface="Calibri" panose="020F0502020204030204" pitchFamily="34" charset="0"/>
              </a:rPr>
              <a:t> algorithm</a:t>
            </a:r>
            <a:r>
              <a:rPr lang="en-GB" dirty="0">
                <a:latin typeface="Calibri" panose="020F0502020204030204" pitchFamily="34" charset="0"/>
                <a:cs typeface="Calibri" panose="020F0502020204030204" pitchFamily="34" charset="0"/>
              </a:rPr>
              <a:t>, and an application of resulting joint density to price various contracts (just compute numerical values).</a:t>
            </a:r>
          </a:p>
          <a:p>
            <a:r>
              <a:rPr lang="en-GB" dirty="0">
                <a:latin typeface="Calibri" panose="020F0502020204030204" pitchFamily="34" charset="0"/>
                <a:cs typeface="Calibri" panose="020F0502020204030204" pitchFamily="34" charset="0"/>
              </a:rPr>
              <a:t>For this topic you may find useful the material from the deprecated FM14 </a:t>
            </a:r>
            <a:r>
              <a:rPr lang="en-GB" dirty="0" err="1">
                <a:latin typeface="Calibri" panose="020F0502020204030204" pitchFamily="34" charset="0"/>
                <a:cs typeface="Calibri" panose="020F0502020204030204" pitchFamily="34" charset="0"/>
              </a:rPr>
              <a:t>moduel</a:t>
            </a:r>
            <a:r>
              <a:rPr lang="en-GB" dirty="0">
                <a:latin typeface="Calibri" panose="020F0502020204030204" pitchFamily="34" charset="0"/>
                <a:cs typeface="Calibri" panose="020F0502020204030204" pitchFamily="34" charset="0"/>
              </a:rPr>
              <a:t> (Advanced Volatility models), FM05 (least squares param. estimation), FM06 (Python numerical schemes) and FM04 and FM07 (change of measure).</a:t>
            </a:r>
          </a:p>
          <a:p>
            <a:endParaRPr lang="en-GB" dirty="0">
              <a:latin typeface="Calibri" panose="020F0502020204030204" pitchFamily="34" charset="0"/>
              <a:cs typeface="Calibri" panose="020F0502020204030204" pitchFamily="34" charset="0"/>
            </a:endParaRPr>
          </a:p>
          <a:p>
            <a:endParaRPr lang="en-GB" dirty="0"/>
          </a:p>
          <a:p>
            <a:pPr marL="0" indent="0">
              <a:buNone/>
            </a:pPr>
            <a:endParaRPr lang="en-GB" dirty="0"/>
          </a:p>
        </p:txBody>
      </p:sp>
    </p:spTree>
    <p:extLst>
      <p:ext uri="{BB962C8B-B14F-4D97-AF65-F5344CB8AC3E}">
        <p14:creationId xmlns:p14="http://schemas.microsoft.com/office/powerpoint/2010/main" val="21442427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a:bodyPr>
          <a:lstStyle/>
          <a:p>
            <a:pPr marL="0" indent="0">
              <a:buNone/>
            </a:pPr>
            <a:endParaRPr lang="en-GB" sz="3000" dirty="0">
              <a:effectLst/>
              <a:highlight>
                <a:srgbClr val="FFFFFF"/>
              </a:highlight>
              <a:latin typeface="ArialMT"/>
            </a:endParaRPr>
          </a:p>
        </p:txBody>
      </p:sp>
    </p:spTree>
    <p:extLst>
      <p:ext uri="{BB962C8B-B14F-4D97-AF65-F5344CB8AC3E}">
        <p14:creationId xmlns:p14="http://schemas.microsoft.com/office/powerpoint/2010/main" val="3385423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a:bodyPr>
          <a:lstStyle/>
          <a:p>
            <a:pPr marL="0" indent="0">
              <a:buNone/>
            </a:pPr>
            <a:endParaRPr lang="en-GB" dirty="0">
              <a:effectLst/>
              <a:highlight>
                <a:srgbClr val="FFFFFF"/>
              </a:highlight>
              <a:latin typeface="ArialMT"/>
            </a:endParaRPr>
          </a:p>
        </p:txBody>
      </p:sp>
    </p:spTree>
    <p:extLst>
      <p:ext uri="{BB962C8B-B14F-4D97-AF65-F5344CB8AC3E}">
        <p14:creationId xmlns:p14="http://schemas.microsoft.com/office/powerpoint/2010/main" val="14186529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a:bodyPr>
          <a:lstStyle/>
          <a:p>
            <a:pPr marL="0" indent="0">
              <a:buNone/>
            </a:pPr>
            <a:endParaRPr lang="en-GB" dirty="0"/>
          </a:p>
        </p:txBody>
      </p:sp>
    </p:spTree>
    <p:extLst>
      <p:ext uri="{BB962C8B-B14F-4D97-AF65-F5344CB8AC3E}">
        <p14:creationId xmlns:p14="http://schemas.microsoft.com/office/powerpoint/2010/main" val="3314389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a:bodyPr>
          <a:lstStyle/>
          <a:p>
            <a:pPr marL="0" indent="0">
              <a:buNone/>
            </a:pPr>
            <a:endParaRPr lang="en-GB" dirty="0"/>
          </a:p>
        </p:txBody>
      </p:sp>
    </p:spTree>
    <p:extLst>
      <p:ext uri="{BB962C8B-B14F-4D97-AF65-F5344CB8AC3E}">
        <p14:creationId xmlns:p14="http://schemas.microsoft.com/office/powerpoint/2010/main" val="2994676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Deadlines</a:t>
            </a:r>
          </a:p>
        </p:txBody>
      </p:sp>
      <p:sp>
        <p:nvSpPr>
          <p:cNvPr id="3" name="Content Placeholder 2"/>
          <p:cNvSpPr>
            <a:spLocks noGrp="1"/>
          </p:cNvSpPr>
          <p:nvPr>
            <p:ph idx="1"/>
          </p:nvPr>
        </p:nvSpPr>
        <p:spPr/>
        <p:txBody>
          <a:bodyPr/>
          <a:lstStyle/>
          <a:p>
            <a:r>
              <a:rPr lang="en-GB" dirty="0"/>
              <a:t>You </a:t>
            </a:r>
            <a:r>
              <a:rPr lang="en-GB" b="1" dirty="0"/>
              <a:t>must choose a project topic </a:t>
            </a:r>
            <a:r>
              <a:rPr lang="en-GB" dirty="0"/>
              <a:t>by </a:t>
            </a:r>
            <a:r>
              <a:rPr lang="en-GB" dirty="0">
                <a:highlight>
                  <a:srgbClr val="FFFF00"/>
                </a:highlight>
              </a:rPr>
              <a:t>17th April</a:t>
            </a:r>
            <a:r>
              <a:rPr lang="en-GB" dirty="0"/>
              <a:t>, see Topic choice link on FM50 KEATS page.</a:t>
            </a:r>
          </a:p>
          <a:p>
            <a:r>
              <a:rPr lang="en-GB" dirty="0"/>
              <a:t>After that date the allocation of supervisors will be made, and then communicated on KEATS.</a:t>
            </a:r>
          </a:p>
          <a:p>
            <a:r>
              <a:rPr lang="en-GB" dirty="0"/>
              <a:t>Once you finish your exams you will be invited to the first supervisory meeting (make sure you have read over the topic and prepared any questions).</a:t>
            </a:r>
          </a:p>
        </p:txBody>
      </p:sp>
    </p:spTree>
    <p:extLst>
      <p:ext uri="{BB962C8B-B14F-4D97-AF65-F5344CB8AC3E}">
        <p14:creationId xmlns:p14="http://schemas.microsoft.com/office/powerpoint/2010/main" val="32133446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90662" y="765110"/>
            <a:ext cx="4805996" cy="4799837"/>
          </a:xfrm>
          <a:blipFill>
            <a:blip r:embed="rId2"/>
            <a:stretch>
              <a:fillRect/>
            </a:stretch>
          </a:blipFill>
        </p:spPr>
        <p:txBody>
          <a:bodyPr vert="horz" lIns="91440" tIns="45720" rIns="91440" bIns="45720" rtlCol="0" anchor="t">
            <a:normAutofit/>
          </a:bodyPr>
          <a:lstStyle/>
          <a:p>
            <a:br>
              <a:rPr lang="en-US" sz="4000" kern="1200" dirty="0">
                <a:solidFill>
                  <a:schemeClr val="tx2"/>
                </a:solidFill>
                <a:latin typeface="+mj-lt"/>
                <a:ea typeface="+mj-ea"/>
                <a:cs typeface="+mj-cs"/>
              </a:rPr>
            </a:br>
            <a:br>
              <a:rPr lang="en-US" sz="4000" kern="1200" dirty="0">
                <a:solidFill>
                  <a:schemeClr val="tx2"/>
                </a:solidFill>
                <a:latin typeface="+mj-lt"/>
                <a:ea typeface="+mj-ea"/>
                <a:cs typeface="+mj-cs"/>
              </a:rPr>
            </a:br>
            <a:br>
              <a:rPr lang="en-US" sz="4000" kern="1200" dirty="0">
                <a:solidFill>
                  <a:schemeClr val="tx2"/>
                </a:solidFill>
                <a:latin typeface="+mj-lt"/>
                <a:ea typeface="+mj-ea"/>
                <a:cs typeface="+mj-cs"/>
              </a:rPr>
            </a:br>
            <a:r>
              <a:rPr lang="en-US" sz="4000" kern="1200" dirty="0">
                <a:solidFill>
                  <a:schemeClr val="tx2"/>
                </a:solidFill>
                <a:latin typeface="+mj-lt"/>
                <a:ea typeface="+mj-ea"/>
                <a:cs typeface="+mj-cs"/>
              </a:rPr>
              <a:t>Questions and discussion</a:t>
            </a:r>
          </a:p>
        </p:txBody>
      </p:sp>
      <p:pic>
        <p:nvPicPr>
          <p:cNvPr id="7" name="Graphic 6" descr="Help">
            <a:extLst>
              <a:ext uri="{FF2B5EF4-FFF2-40B4-BE49-F238E27FC236}">
                <a16:creationId xmlns:a16="http://schemas.microsoft.com/office/drawing/2014/main" id="{DC72A32A-09B1-1B29-A126-5893A4076C2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826183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7412</TotalTime>
  <Words>2529</Words>
  <Application>Microsoft Macintosh PowerPoint</Application>
  <PresentationFormat>Widescreen</PresentationFormat>
  <Paragraphs>158</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ArialMT</vt:lpstr>
      <vt:lpstr>Calibri</vt:lpstr>
      <vt:lpstr>Calibri Light</vt:lpstr>
      <vt:lpstr>Office Theme</vt:lpstr>
      <vt:lpstr>FM50 Induction 2026</vt:lpstr>
      <vt:lpstr>Outline</vt:lpstr>
      <vt:lpstr>Changes</vt:lpstr>
      <vt:lpstr>Documentation</vt:lpstr>
      <vt:lpstr>OVERVIEW</vt:lpstr>
      <vt:lpstr>FM50 Key Points</vt:lpstr>
      <vt:lpstr>Progression to project, suspension from project (Part-Time students)</vt:lpstr>
      <vt:lpstr>Progression to project, suspension from project (description of process)</vt:lpstr>
      <vt:lpstr>Progression to project, suspension from project (Full-Time students)</vt:lpstr>
      <vt:lpstr>The structure of the project</vt:lpstr>
      <vt:lpstr>Mark Scheme</vt:lpstr>
      <vt:lpstr>What are we looking for?</vt:lpstr>
      <vt:lpstr>What we are NOT looking for</vt:lpstr>
      <vt:lpstr>Oral Exam</vt:lpstr>
      <vt:lpstr>PLAGIARISM  </vt:lpstr>
      <vt:lpstr>PLAGIARISM (quick writing)</vt:lpstr>
      <vt:lpstr>Plagiarism (def.)</vt:lpstr>
      <vt:lpstr>Plagiarism (def.)</vt:lpstr>
      <vt:lpstr>Plagiarism</vt:lpstr>
      <vt:lpstr>Avoiding plagiarism</vt:lpstr>
      <vt:lpstr>Turnitin</vt:lpstr>
      <vt:lpstr>What you must submit</vt:lpstr>
      <vt:lpstr>Project preparation </vt:lpstr>
      <vt:lpstr>Project preparation</vt:lpstr>
      <vt:lpstr>The Project Template </vt:lpstr>
      <vt:lpstr>The LaTeX Project Template</vt:lpstr>
      <vt:lpstr>Personal Contribution</vt:lpstr>
      <vt:lpstr>SUPERVISION </vt:lpstr>
      <vt:lpstr>Supervision outline</vt:lpstr>
      <vt:lpstr>Industrial Placements</vt:lpstr>
      <vt:lpstr>The Project Topics</vt:lpstr>
      <vt:lpstr>Project 3: A joint density for FX rates from observed cross-smiles  </vt:lpstr>
      <vt:lpstr>Project 1: A joint density for FX rates from observed cross-smiles (cont’d)</vt:lpstr>
      <vt:lpstr>PowerPoint Presentation</vt:lpstr>
      <vt:lpstr>PowerPoint Presentation</vt:lpstr>
      <vt:lpstr>PowerPoint Presentation</vt:lpstr>
      <vt:lpstr>PowerPoint Presentation</vt:lpstr>
      <vt:lpstr>Deadlines</vt:lpstr>
      <vt:lpstr>   Questions and discussion</vt:lpstr>
    </vt:vector>
  </TitlesOfParts>
  <Company>King's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FM50 Induction</dc:title>
  <dc:creator>Armstrong, John</dc:creator>
  <cp:lastModifiedBy>Microsoft Office User</cp:lastModifiedBy>
  <cp:revision>102</cp:revision>
  <dcterms:created xsi:type="dcterms:W3CDTF">2018-03-26T10:15:22Z</dcterms:created>
  <dcterms:modified xsi:type="dcterms:W3CDTF">2026-03-25T15:33:54Z</dcterms:modified>
</cp:coreProperties>
</file>